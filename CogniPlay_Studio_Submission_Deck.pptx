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1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 ($K)</c:v>
                </c:pt>
              </c:strCache>
            </c:strRef>
          </c:tx>
          <c:spPr>
            <a:solidFill>
              <a:srgbClr val="00C4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A0A0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</c:v>
                </c:pt>
                <c:pt idx="1">
                  <c:v>1200</c:v>
                </c:pt>
                <c:pt idx="2">
                  <c:v>5800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A0A0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888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2F2F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005840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11480" y="2331720"/>
            <a:ext cx="4114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Wall.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Child.</a:t>
            </a:r>
            <a:endParaRPr lang="en-US" sz="1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8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Infinite Learning.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3520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PITCH  ·  2026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11480" y="3886200"/>
            <a:ext cx="411480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95020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cogniplay.io  ·  hello@cogniplay.io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63440" y="50292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50292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6126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CV Engine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9784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· Homography · macOS bridge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0020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0020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0992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Puzzle Engine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0756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· IRT scoring · 15 categories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269748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9748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280720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 AI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317296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· offline · privacy-safe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63440" y="3794760"/>
            <a:ext cx="4297680" cy="960120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3794760"/>
            <a:ext cx="45720" cy="9601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90448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Cognitive Profiling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4270248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dimensions · EMA · parent dashboard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4828032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CogniPlay Studio. Confidential.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classrooms cost a fortune.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analytics are an afterthought.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69164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12648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$3K–15K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12648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SMART Board cost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2648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reach for 90% of global schools. Most already own a projector and webcam.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8562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864608" y="233172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learning after school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64608" y="258775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worksheets, zero analytics. Parents and teachers get no real cognitive insight.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320040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1-size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1264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all apps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12648" y="40965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 difficulty. Fast learners are bored; struggling kids disengage and drop off.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3200400"/>
            <a:ext cx="4069080" cy="14173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33649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APIs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864608" y="384048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tools in classrooms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64608" y="409651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Whiteboard, game, analytics, and parent report live in disconnected silos.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475488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webcam + projector + our software =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smart classroom.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673352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73352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020824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+ MediaPipe turns any projected wall into a gesture-controlled surface. No dedicated hardware required.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752344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752344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099816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puzzle engine with 3PL-IRT adaptive scoring, 7-dimension cognitive profiling, and 15 learning categories.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3831336"/>
            <a:ext cx="36576" cy="73152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831336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4178808"/>
            <a:ext cx="4389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runs fully on-device. Powers whiteboard flowcharts and puzzle hints with zero latency or cloud cost.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74920" y="365760"/>
            <a:ext cx="3840480" cy="448056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74920" y="4910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product — CV Active, wall host running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under 3 minutes. No specialist knowledge required.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481328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webcam at wall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consumer USB or built-in webcam works.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06040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06040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163824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66544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4-tap perspective calibration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66544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 wall corners. Homography computed instantly.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288536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88536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46320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0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loads on projector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749040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 streams into the iframe host.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971032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71032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528816" y="1618488"/>
            <a:ext cx="576072" cy="34747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31536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gestures to interact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31536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Pinch, drag, trace — tracked by MediaPipe v3.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53528" y="1371600"/>
            <a:ext cx="548640" cy="548640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53528" y="13716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114032" y="2029968"/>
            <a:ext cx="162763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adapts difficulty live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14032" y="2450592"/>
            <a:ext cx="1627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updates ability estimate each attempt.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090672"/>
            <a:ext cx="4069080" cy="18288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1480" y="4983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World — activity selection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3090672"/>
            <a:ext cx="4069080" cy="18288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663440" y="498348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sorting — drag &amp; drop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— CV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Tracker v3 — rebuilt from scratch for production reliability.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36192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53619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" y="1417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OneEuroFilter1D smoothing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24128" y="169164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Per-landmark (21 × {x,y,z}) filters eliminate jitter at the source.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39696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39696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24128" y="2020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Velocity-gated pinch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24128" y="2295144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Accidental triggers while moving are blocked. Real pinch occurs nearly stationary.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43200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7432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24128" y="2624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pinch hysteresis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898648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across multiple consecutive frames. Eliminates single-frame glitch triggers.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346704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346704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128" y="3227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hand-plane depth (Z)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502152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entire hand plane — not a single fingertip — for accurate push-forward depth.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950208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950208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24128" y="38313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distanceFromScreen scaling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4105656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depth thresholds for 50cm–3m from wall. Same feel at any projection range.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553712"/>
            <a:ext cx="502920" cy="201168"/>
          </a:xfrm>
          <a:prstGeom prst="rect">
            <a:avLst/>
          </a:prstGeom>
          <a:solidFill>
            <a:srgbClr val="1A1A1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5537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4434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Frame-rate-independent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24128" y="4709160"/>
            <a:ext cx="7543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time deltas (dt tracking): stable frequency response at 30fps, 60fps, or variable.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WHITEBOARD ENGINE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explain, generate flowcharts. All local. Zero latency.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0759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0759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ShapeClassifier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stroke beautification. Circle, rectangle, triangle, line, arrow — pure geometry. No GPU, no API calls.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1480" y="240487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40487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Copilot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74320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 generates text, definitions, flowcharts, tables, and word-charts locally.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3502152"/>
            <a:ext cx="36576" cy="82296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0215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Shape Assist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840480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on/off. Laser pointer mode. Undo/redo stack. Brush, eraser, size controls.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188720"/>
            <a:ext cx="4069080" cy="16916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9443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Whiteboard with AI Shape Assist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069080" cy="16916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477316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water cycle flowchart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— PUZZLE ENGINE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interaction types. 15 categories. Adaptive on every attempt.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44752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3898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&amp; Drop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58368" y="16824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Grab a shape choice and drop into the target zone.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139696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58368" y="208483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Maze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8368" y="2377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the path with your hand — wall collision detected.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834640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" y="2779776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Play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3072384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colour/shape sequence.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3529584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8368" y="34747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Reveal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" y="37673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Memorise, then recall the hidden light order.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4224528"/>
            <a:ext cx="228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58368" y="41696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Match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8368" y="446227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item to category card.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937760" y="347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2560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Play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49440" y="347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49440" y="2560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Lights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37760" y="2633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3776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Recall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49440" y="2633472"/>
            <a:ext cx="1920240" cy="2148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49440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Sorting Play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SCORING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always feel in the zone — never bored, never overwhelmed.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8321040" cy="9601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44752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P(θ) = c + (1 − c) / (1 + e^{−a(θ−b)})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93852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— Three Parameter Logistic Item Response Theory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11480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39496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539496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ability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9496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Bayesian after each attempt. Personalised per child.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542032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670048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70048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difficulty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670048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per puzzle category. Calibrated from pilot data.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72584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00600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800600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discrimination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sharply the item separates adjacent ability levels.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803136" y="2514600"/>
            <a:ext cx="2011680" cy="233172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31152" y="2606040"/>
            <a:ext cx="457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31152" y="3218688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Guessing parameter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31152" y="3547872"/>
            <a:ext cx="1783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Chance-level floor. Prevents lucky streaks from inflating θ.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7-dimension cognitive profile. Built live. Visible to child, parent, teacher.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72184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472184"/>
            <a:ext cx="1384274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39312" y="14081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Control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21808" y="140817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focus across puzzle sets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1993392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93392"/>
            <a:ext cx="2113395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9293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Memory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21808" y="192938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sequence then recall it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514600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514600"/>
            <a:ext cx="1713260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9312" y="24505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Speed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21808" y="2450592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correct response under time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35808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" y="3035808"/>
            <a:ext cx="1585936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9312" y="297180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Logic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321808" y="297180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rules and complete sequences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3557016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57016"/>
            <a:ext cx="1789573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9312" y="34930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Reasoning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321808" y="3493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Rotate, mirror, fit shapes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078224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078224"/>
            <a:ext cx="1693915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39312" y="4014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Speed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21808" y="401421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θ ascent per session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11480" y="4599432"/>
            <a:ext cx="3108960" cy="256032"/>
          </a:xfrm>
          <a:prstGeom prst="rect">
            <a:avLst/>
          </a:prstGeom>
          <a:solidFill>
            <a:srgbClr val="181818"/>
          </a:solidFill>
          <a:ln w="12700">
            <a:solidFill>
              <a:srgbClr val="24242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11480" y="4599432"/>
            <a:ext cx="1432737" cy="256032"/>
          </a:xfrm>
          <a:prstGeom prst="rect">
            <a:avLst/>
          </a:prstGeom>
          <a:solidFill>
            <a:srgbClr val="009960"/>
          </a:solidFill>
          <a:ln w="12700">
            <a:solidFill>
              <a:srgbClr val="0099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39312" y="453542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321808" y="4535424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count and perseverance score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029200" y="347472"/>
            <a:ext cx="196596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029200" y="48463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 — radar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059168" y="347472"/>
            <a:ext cx="1810512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059168" y="4846320"/>
            <a:ext cx="181051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breakdown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&amp; SUBTITLES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every session. Local Whisper burns subtitles on-device.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Recording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screen capture with teacher camera picture-in-picture.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231136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231136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Live Subtitles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/ whisper.cpp runs locally. No audio leaves the device.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108960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3108960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2004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 Burn-in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35112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Subtitles baked into the recording file for accessibility.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986784"/>
            <a:ext cx="4069080" cy="7498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986784"/>
            <a:ext cx="45720" cy="74980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07822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to Cloud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" y="4389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export to school cloud storage when connection available.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1261872"/>
            <a:ext cx="4069080" cy="352044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63440" y="4846320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Recording — live subtitle area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progress. No data science degree required.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517904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264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Score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70078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IRT-derived ability estimate (0–1000 scale).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130552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39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Streak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play days — builds habit and retention.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743200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6517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926080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dimensions with parent-friendly labels.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11480" y="3355848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2644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to Grow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538728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dimensions with encouraging framing.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968496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87705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5137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puzzles-solved chart. Mock data in prototype.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581144"/>
            <a:ext cx="182880" cy="18288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48970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at Home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76402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activity tips for parent reinforcement.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937760" y="347472"/>
            <a:ext cx="196596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4846320"/>
            <a:ext cx="1965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+ score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967728" y="347472"/>
            <a:ext cx="1920240" cy="4434840"/>
          </a:xfrm>
          <a:prstGeom prst="rect">
            <a:avLst/>
          </a:prstGeom>
          <a:solidFill>
            <a:srgbClr val="181818"/>
          </a:solidFill>
          <a:ln w="9525">
            <a:solidFill>
              <a:srgbClr val="2A2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67728" y="48463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chart + achievements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cognitive analytics. Identify struggling students early.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Cognitive Profile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chart aggregated across all enrolled students.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11480" y="208483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208483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1488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Distribution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41401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chart: how students cluster across score bands.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11480" y="281635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" y="281635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880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Heatmap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14553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× per-dimension grid. Colour-coded weak spots.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54787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354787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6118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Needing Attention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87705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Auto-flagged by declining trend or below-threshold score.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4279392"/>
            <a:ext cx="4069080" cy="603504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11480" y="4279392"/>
            <a:ext cx="45720" cy="60350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3434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608576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teaching suggestions per flagged student.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1188720"/>
            <a:ext cx="4069080" cy="3657600"/>
          </a:xfrm>
          <a:prstGeom prst="rect">
            <a:avLst/>
          </a:prstGeom>
          <a:solidFill>
            <a:srgbClr val="EBEBEB"/>
          </a:solidFill>
          <a:ln w="9525">
            <a:solidFill>
              <a:srgbClr val="D0D0D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663440" y="4910328"/>
            <a:ext cx="4069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heatmap + score distribution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FFF3E0"/>
          </a:solidFill>
          <a:ln w="9525">
            <a:solidFill>
              <a:srgbClr val="C9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4864608"/>
            <a:ext cx="8778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Prototype note: teacher dashboard currently uses hardcoded mock students. Real roster integration is the highest-priority next sprint.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EXPERIENCE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audiences. One platform. Each experience purpose-built.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(ages 3–5)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56816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408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age setup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2468880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selection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980944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 play — drag, trace, match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493008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hint on demand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4005072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· XP · badge reward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4517136"/>
            <a:ext cx="20116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408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DNA radar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337560" y="1956816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3016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TouchWall &lt; 3 min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337560" y="2468880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3016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projection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2980944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3016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CogniPlay or Whiteboard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337560" y="3493008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3016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class heatmap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337560" y="4005072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3016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session + subtitles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37560" y="4517136"/>
            <a:ext cx="201168" cy="201168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3016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on flagged students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263640" y="1956816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56248" y="186537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Learning DNA radar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2468880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377440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+ growth areas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980944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89504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activity chart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63640" y="3493008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01568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home tips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63640" y="4005072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3913632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logs + screen time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63640" y="4517136"/>
            <a:ext cx="201168" cy="201168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56248" y="4425696"/>
            <a:ext cx="24505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Lean stack. No unnecessary dependencies. Built to ship.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Shell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2588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15000" y="132588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npm dependencies on host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8595360" y="1353312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1728216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Tracking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7556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Hands v3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15000" y="175564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landmarks · OneEuroFilter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95360" y="1783080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157984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854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Bridge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18541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CoreGraphics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218541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now · Windows port planned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95360" y="2212848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2587752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61518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23160" y="261518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Framer Motion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15000" y="261518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transitions + rewards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595360" y="2642616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3017520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044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App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23160" y="304495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8 + 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15000" y="304495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CogniPlay puzzle engine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595360" y="3072384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1480" y="3447288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47472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4747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+ localStorage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347472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Prototype-grade persistence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8595360" y="3502152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" y="3877056"/>
            <a:ext cx="8321040" cy="347472"/>
          </a:xfrm>
          <a:prstGeom prst="rect">
            <a:avLst/>
          </a:prstGeom>
          <a:solidFill>
            <a:srgbClr val="F2F2F0"/>
          </a:solidFill>
          <a:ln w="6350">
            <a:solidFill>
              <a:srgbClr val="E0E0D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9044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(local)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423160" y="3904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llama3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715000" y="3904488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· no cloud dependency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8595360" y="3931920"/>
            <a:ext cx="109728" cy="201168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306824"/>
            <a:ext cx="8321040" cy="347472"/>
          </a:xfrm>
          <a:prstGeom prst="rect">
            <a:avLst/>
          </a:prstGeom>
          <a:solidFill>
            <a:srgbClr val="FFF8F5"/>
          </a:solidFill>
          <a:ln w="6350">
            <a:solidFill>
              <a:srgbClr val="FFE0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433425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Auth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423160" y="433425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built —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715000" y="433425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/ Firebase · Sprint 1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595360" y="4361688"/>
            <a:ext cx="10972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11480" y="4736592"/>
            <a:ext cx="8321040" cy="347472"/>
          </a:xfrm>
          <a:prstGeom prst="rect">
            <a:avLst/>
          </a:prstGeom>
          <a:solidFill>
            <a:srgbClr val="FFF8F5"/>
          </a:solidFill>
          <a:ln w="6350">
            <a:solidFill>
              <a:srgbClr val="FFE0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47640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423160" y="476402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not yet built —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15000" y="4764024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roadmap item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595360" y="4791456"/>
            <a:ext cx="109728" cy="201168"/>
          </a:xfrm>
          <a:prstGeom prst="rect">
            <a:avLst/>
          </a:prstGeom>
          <a:solidFill>
            <a:srgbClr val="E05A2B"/>
          </a:solidFill>
          <a:ln w="12700">
            <a:solidFill>
              <a:srgbClr val="E05A2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STATUS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 — impressive prototype, clear roadmap.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tracking v3 with OneEuroFilter smoothing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1480" y="181051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4-point homography calibration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13055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23591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macOS cursor bridge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45059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6791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full puzzle play loop (React 19 / Vite 8)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7063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9992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adaptive difficulty engine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09067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7-dim cognitive profiler with EMA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41071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6393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shape classifier — offline stroke beautification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73075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" y="3959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whiteboard: text, flowcharts, tables, sketches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11480" y="405079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" y="42793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+ camera PiP recording with caption burn-in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11480" y="437083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599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dashboard (local profile data)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4690872"/>
            <a:ext cx="91440" cy="9144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234440"/>
            <a:ext cx="10973" cy="3611880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13258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Roadmap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8348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+ database (Supabase/Firebase)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1810512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20665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auth (teacher / parent / student)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46320" y="2157984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241401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classroom roster and student linking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46320" y="2505456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27614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AI puzzle generation (disabled early return)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46320" y="2852928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83480" y="3108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cursor bridge (win32api)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3200400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3456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and multi-device support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46320" y="3547872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8348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accessibility audit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46320" y="3895344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41513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authoring tool for teachers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46320" y="4242816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983480" y="449884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study + item calibration data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846320" y="4590288"/>
            <a:ext cx="91440" cy="91440"/>
          </a:xfrm>
          <a:prstGeom prst="rect">
            <a:avLst/>
          </a:prstGeom>
          <a:solidFill>
            <a:srgbClr val="C98A00"/>
          </a:solidFill>
          <a:ln w="12700">
            <a:solidFill>
              <a:srgbClr val="C98A00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Massive market. Underserved with software-first, adaptive solutions.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$187B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EdTech 2025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View Research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42032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42032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79192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$54B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679192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Display Market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679192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Business Insights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72584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72584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9744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809744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Children aged 3–12 worldwide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9744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/ World Bank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03136" y="1353312"/>
            <a:ext cx="2011680" cy="228600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803136" y="1353312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0296" y="1444752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300×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940296" y="2176272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Cheaper than a SMART 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40296" y="260604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$5–15K average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11480" y="379476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Sustainable Development Goals alignment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6128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Education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personalised learning for every child regardless of budget.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33756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47472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8736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Inequalities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47472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Software-only removes hardware cost as a barrier to smart classrooms.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63640" y="4069080"/>
            <a:ext cx="2743200" cy="896112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400800" y="413308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17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13448" y="413308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Partnerships for Goals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00800" y="4425696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engine invites schools, NGOs, and EdTechs to build on it.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software-only, offline, cognitively adaptive interactive wall.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hardware needed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3493008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82896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scoring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272784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profiling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62672" y="1353312"/>
            <a:ext cx="1353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cost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719072"/>
            <a:ext cx="8321040" cy="10973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883664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03120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93008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82896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72784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62672" y="1883664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$5–15K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377440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505456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Osmo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103120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93008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82896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662672" y="2505456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$100+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1480" y="2999232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127248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03120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93008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2896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62672" y="3127248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Freemium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11480" y="3621024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3749040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 ABC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103120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493008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82896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662672" y="3749040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11480" y="4242816"/>
            <a:ext cx="8321040" cy="7315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4261104"/>
            <a:ext cx="8321040" cy="658368"/>
          </a:xfrm>
          <a:prstGeom prst="rect">
            <a:avLst/>
          </a:prstGeom>
          <a:solidFill>
            <a:srgbClr val="1A2A1A"/>
          </a:solidFill>
          <a:ln w="12700">
            <a:solidFill>
              <a:srgbClr val="2A3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4370832"/>
            <a:ext cx="1508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 ★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103120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493008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82896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72784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62672" y="4370832"/>
            <a:ext cx="13533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cost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11480" y="4864608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 is the only solution combining all four: software-only, offline AI, adaptive IRT, and 7-dimension cognitive profiling.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SaaS at the core. Multiple growth channels.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743200" cy="5486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SaaS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607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$199 / yr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7607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platform per school · unlimited students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9184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45643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Therapy Centers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5643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 / mo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5643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clinics · early intervention · SEND programs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36792" y="1408176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Bundle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336792" y="1755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$299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6792" y="2176272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Projector + webcam + guided setup + 1-year SaaS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7607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Packs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$9.99 each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7607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Phonics · numeracy · STEM · bilingual packs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9184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45643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Educator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5643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→ $9.99/mo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345643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sync + advanced reports unlocked on paid tier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72200" y="3072384"/>
            <a:ext cx="274320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336792" y="321868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API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336792" y="356616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pricing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6336792" y="3986784"/>
            <a:ext cx="2423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cognitive profiling engine to EdTech partners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the engine. Monetise the SaaS and content layer.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9844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Playbook: open-source core (community + discovery), monetise cloud + curriculum. Same model as Moodle, Unity, Godot.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1148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+ Open Source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2120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Demo live at hackathon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120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GitHub stars + community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2120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Open-source engine repo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6032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7004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M1–M3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7004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Partners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67004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Schools + therapy centres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67004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Co-design sessions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67004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Efficacy + classroom data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916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M4–M8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81888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Launch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1888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Backend + auth shipped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1888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App store + SaaS billing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1888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100 paying licenses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1828800"/>
            <a:ext cx="2011680" cy="2999232"/>
          </a:xfrm>
          <a:prstGeom prst="rect">
            <a:avLst/>
          </a:prstGeom>
          <a:solidFill>
            <a:srgbClr val="111111"/>
          </a:solidFill>
          <a:ln w="9525">
            <a:solidFill>
              <a:srgbClr val="23232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58000" y="1828800"/>
            <a:ext cx="201168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67728" y="190195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M9–M18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967728" y="217627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67728" y="274320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District-level deals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67728" y="327355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Hardware bundles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967728" y="3803904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International expansion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3-YEAR ARR TRAJECTORY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 → $1.2M → $5.8M ARR over 3 years.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7607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schools + therapy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0215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0215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$1.2M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50215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600 schools + packs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63640" y="1261872"/>
            <a:ext cx="2743200" cy="1463040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261872"/>
            <a:ext cx="2743200" cy="50292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28232" y="13533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28232" y="1609344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$5.8M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28232" y="2322576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schools + API</a:t>
            </a:r>
            <a:endParaRPr lang="en-US" sz="10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411480" y="2852928"/>
          <a:ext cx="8321040" cy="2057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what's missing. Here's exactly how we fix it.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426464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48132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8132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53312" y="1472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backend / 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47218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1: Supabase + JWT. 6-week implementation estimate.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956816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01168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01168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353312" y="200253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teacher dashboard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931920" y="200253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MOCK_STUDENTS after backend + real roster lands.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487168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2542032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0A00"/>
          </a:solidFill>
          <a:ln w="6350">
            <a:solidFill>
              <a:srgbClr val="E05A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42032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05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1353312" y="2532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data / COPPA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31920" y="253288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PII stored today. Parental consent flow + on-device first.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11480" y="3017520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072384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072384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1353312" y="3063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reliability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931920" y="30632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 via HSV colour markers. Wizard &lt; 3 min. In testing.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3547872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" y="3602736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602736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353312" y="35935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macOS-only cursor bridge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593592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bridge via win32api in development. 8-week estimate.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11480" y="4078224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4133088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133088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1353312" y="41239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puzzle gen disabled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931920" y="4123944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early return in AIEngine.ts. Ollama endpoint is ready.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11480" y="4608576"/>
            <a:ext cx="8321040" cy="438912"/>
          </a:xfrm>
          <a:prstGeom prst="rect">
            <a:avLst/>
          </a:prstGeom>
          <a:solidFill>
            <a:srgbClr val="111111"/>
          </a:solidFill>
          <a:ln w="6350">
            <a:solidFill>
              <a:srgbClr val="22222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2920" y="4663440"/>
            <a:ext cx="749808" cy="256032"/>
          </a:xfrm>
          <a:prstGeom prst="roundRect">
            <a:avLst>
              <a:gd name="adj" fmla="val 17857"/>
            </a:avLst>
          </a:prstGeom>
          <a:solidFill>
            <a:srgbClr val="2A1A00"/>
          </a:solidFill>
          <a:ln w="6350">
            <a:solidFill>
              <a:srgbClr val="C98A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663440"/>
            <a:ext cx="74980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98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1353312" y="46542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dependency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931920" y="4654296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Graceful fallback — recording works without Whisper; subtitles optional.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founders. Every core discipline covered.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1556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2618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4630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27048" y="14447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Engineer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27048" y="17922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Node · Vite · TypeScript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527048" y="21396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game engine, routing, all UI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709160" y="12618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14630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24728" y="14447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Engineer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24728" y="17922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 · Python · OpenCV · homography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24728" y="21396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TouchWall tracker v3, cursor bridge, calibration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11480" y="30906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32918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27048" y="32735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Engineer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527048" y="36210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IRT · EMA · LLMs · Ollama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527048" y="39684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3PL-IRT engine, CognitiveScorer, AI hints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09160" y="3090672"/>
            <a:ext cx="4069080" cy="157276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3291840"/>
            <a:ext cx="777240" cy="777240"/>
          </a:xfrm>
          <a:prstGeom prst="ellipse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U/ED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24728" y="3273552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/ EdTech Designer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824728" y="3621024"/>
            <a:ext cx="28163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UX · Framer Motion · Learning Science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24728" y="3968496"/>
            <a:ext cx="28163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UX, age-appropriate flows, Framer animations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 GUIDE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11480" y="530352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access and navigate the clickable prototype.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the live prototype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19072"/>
            <a:ext cx="8321040" cy="658368"/>
          </a:xfrm>
          <a:prstGeom prst="rect">
            <a:avLst/>
          </a:prstGeom>
          <a:solidFill>
            <a:srgbClr val="111111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719072"/>
            <a:ext cx="7955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cogniplay.io  /  localhost:5173  (run: npm run dev in CogniPlay/cogniplay)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2487168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walkthrough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935224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3522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49808" y="293522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/ CV Active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651760" y="2935224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shows Puzzle Playground · Whiteboard · Recording · CV Engine. Check CV ACTIVE badge top-right.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3236976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323697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749808" y="323697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Home World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51760" y="3236976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Continue Playing. See Shape Island, Pattern Room, Memory Train, Drawing Studio world cards.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538728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538728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49808" y="353872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a Puzzle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651760" y="3538728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any world → Play. Try dragging a choice card to the 'Drop the piece here' zone.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840480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40480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749808" y="384048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Whiteboard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651760" y="3840480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→ Whiteboard. Type a topic in the AI box → click Flowchart. Watch it generate live.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4142232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42232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49808" y="41422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Learning DNA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651760" y="4142232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puzzle play → Settings → Parent Dashboard. Shows score, radar chart, dimension bars.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1480" y="4443984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4443984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49808" y="4443984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Teacher Dashboard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2651760" y="4443984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Teacher Mode. Class cognitive profile, heatmap, students needing attention.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1480" y="4745736"/>
            <a:ext cx="219456" cy="219456"/>
          </a:xfrm>
          <a:prstGeom prst="ellipse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745736"/>
            <a:ext cx="2194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749808" y="4745736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 tab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651760" y="4745736"/>
            <a:ext cx="5989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nav → Recording. Shows Start Recording, Upload to Cloud, Start Live Subtitles buttons.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350" kern="0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ASKING FOR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 turn a strong prototype into a classroom-deployed product.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207008"/>
            <a:ext cx="8321040" cy="10973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53312"/>
            <a:ext cx="2743200" cy="54864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today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cash ask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+ visibility. Turns a compelling prototype into a credible product story for investors and school buyers.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37560" y="1353312"/>
            <a:ext cx="27432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1–3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52044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pilot schools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52044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or therapy centres to co-develop and stress-test before we charge. Real classroom data is everything.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63640" y="1353312"/>
            <a:ext cx="2743200" cy="3493008"/>
          </a:xfrm>
          <a:prstGeom prst="rect">
            <a:avLst/>
          </a:prstGeom>
          <a:solidFill>
            <a:srgbClr val="F2F2F0"/>
          </a:solidFill>
          <a:ln w="9525">
            <a:solidFill>
              <a:srgbClr val="E0E0D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353312"/>
            <a:ext cx="2743200" cy="54864"/>
          </a:xfrm>
          <a:prstGeom prst="rect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1481328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spc="1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6-month runway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6520" y="1755648"/>
            <a:ext cx="24231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B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 pre-seed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446520" y="2542032"/>
            <a:ext cx="2423160" cy="2176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auth, Windows bridge, content packs, and one teacher-designer hire. Positions us for a proper seed round.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4864608"/>
            <a:ext cx="8321040" cy="4572"/>
          </a:xfrm>
          <a:prstGeom prst="rect">
            <a:avLst/>
          </a:prstGeom>
          <a:solidFill>
            <a:srgbClr val="E0E0DC"/>
          </a:solidFill>
          <a:ln w="12700">
            <a:solidFill>
              <a:srgbClr val="E0E0D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88289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vision: 10 million children · 2025 hackathon prototype → 2026 100 schools → 2027 1M child profiles → 2028 API platform → 2029 10M children global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" cy="5143500"/>
          </a:xfrm>
          <a:prstGeom prst="rect">
            <a:avLst/>
          </a:prstGeom>
          <a:solidFill>
            <a:srgbClr val="00C47A"/>
          </a:solidFill>
          <a:ln w="12700">
            <a:solidFill>
              <a:srgbClr val="00C47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601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 Studio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C4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Wall.  Any Child.  Infinite Learning.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46120" y="2834640"/>
            <a:ext cx="2651760" cy="10973"/>
          </a:xfrm>
          <a:prstGeom prst="rect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44368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github.com/cogniplaystudio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7680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cogniplay.io  ·  hello@cogniplay.io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3756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3794760"/>
            <a:ext cx="2743200" cy="1051560"/>
          </a:xfrm>
          <a:prstGeom prst="rect">
            <a:avLst/>
          </a:prstGeom>
          <a:solidFill>
            <a:srgbClr val="111111"/>
          </a:solidFill>
          <a:ln w="6350">
            <a:solidFill>
              <a:srgbClr val="25252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937760"/>
            <a:ext cx="8321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2026 CogniPlay Studio. Confidential.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CogniPlay Studio — Pitch 2026</dc:title>
  <dc:subject>PptxGenJS Presentation</dc:subject>
  <dc:creator>PptxGenJS</dc:creator>
  <cp:lastModifiedBy>PptxGenJS</cp:lastModifiedBy>
  <cp:revision>1</cp:revision>
  <dcterms:created xsi:type="dcterms:W3CDTF">2026-06-03T09:10:10Z</dcterms:created>
  <dcterms:modified xsi:type="dcterms:W3CDTF">2026-06-03T09:10:10Z</dcterms:modified>
</cp:coreProperties>
</file>