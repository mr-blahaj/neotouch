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spPr>
            <a:solidFill>
              <a:srgbClr val="00C47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0A0A0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</c:v>
                </c:pt>
                <c:pt idx="1">
                  <c:v>1200</c:v>
                </c:pt>
                <c:pt idx="2">
                  <c:v>5800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33-7846-B4AB-21C187C0EE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2F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7368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00584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CogniPlay Studio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23317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Wall.</a:t>
            </a:r>
            <a:endParaRPr lang="en-US" sz="1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Child.</a:t>
            </a:r>
            <a:endParaRPr lang="en-US" sz="1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Learning.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3520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  ·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3886200"/>
            <a:ext cx="411480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39502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demo: localhost:3000/cogniplay · hello@cogniplay.io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502920"/>
            <a:ext cx="4297680" cy="960120"/>
          </a:xfrm>
          <a:prstGeom prst="rect">
            <a:avLst/>
          </a:prstGeom>
          <a:solidFill>
            <a:srgbClr val="111111"/>
          </a:solidFill>
          <a:ln w="9525">
            <a:solidFill>
              <a:srgbClr val="232323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502920"/>
            <a:ext cx="45720" cy="96012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61264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TouchWall CV Engine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97840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tracking · Homography · macOS bridge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600200"/>
            <a:ext cx="4297680" cy="960120"/>
          </a:xfrm>
          <a:prstGeom prst="rect">
            <a:avLst/>
          </a:prstGeom>
          <a:solidFill>
            <a:srgbClr val="111111"/>
          </a:solidFill>
          <a:ln w="9525">
            <a:solidFill>
              <a:srgbClr val="232323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600200"/>
            <a:ext cx="45720" cy="96012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170992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CogniPlay Puzzle Engine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07568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IRT scoring · 15 labels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697480"/>
            <a:ext cx="4297680" cy="960120"/>
          </a:xfrm>
          <a:prstGeom prst="rect">
            <a:avLst/>
          </a:prstGeom>
          <a:solidFill>
            <a:srgbClr val="111111"/>
          </a:solidFill>
          <a:ln w="9525">
            <a:solidFill>
              <a:srgbClr val="232323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2697480"/>
            <a:ext cx="45720" cy="96012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280720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AI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17296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llama3 · offline · privacy-safe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794760"/>
            <a:ext cx="4297680" cy="960120"/>
          </a:xfrm>
          <a:prstGeom prst="rect">
            <a:avLst/>
          </a:prstGeom>
          <a:solidFill>
            <a:srgbClr val="111111"/>
          </a:solidFill>
          <a:ln w="9525">
            <a:solidFill>
              <a:srgbClr val="232323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3794760"/>
            <a:ext cx="45720" cy="96012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390448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Cognitive Profiling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427024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dimensions · EMA · parent dashboard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CogniPlay Studio. Confidential.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classrooms cost a fortune.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analytics are an afterthought.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536192"/>
            <a:ext cx="8321040" cy="10973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691640"/>
            <a:ext cx="4069080" cy="141732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12648" y="18562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47A"/>
                </a:solidFill>
                <a:latin typeface="Calibri" pitchFamily="34" charset="0"/>
                <a:cs typeface="Calibri" pitchFamily="34" charset="-120"/>
              </a:rPr>
              <a:t>₹90,000 - ₹1,50,₹000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12648" y="2331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SMART Board cost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2648" y="25877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boards remain costly; many schools already have a display or projector.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691640"/>
            <a:ext cx="4069080" cy="141732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64608" y="18562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visibility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64608" y="2331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learning after school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64608" y="25877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worksheets, zero analytics. Parents and teachers get no real cognitive insight.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3200400"/>
            <a:ext cx="4069080" cy="141732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" y="33649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1-size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12648" y="3840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all apps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2648" y="409651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difficulty. Fast learners are bored; struggling kids disengage and drop off.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3200400"/>
            <a:ext cx="4069080" cy="141732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64608" y="33649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APIs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864608" y="3840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tools in classrooms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64608" y="409651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Whiteboard, game, analytics, and parent report live in disconnected silos.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79" y="475488"/>
            <a:ext cx="7960527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webcam + projector + our software =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smart classroom.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832104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673352"/>
            <a:ext cx="36576" cy="73152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6733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TouchWall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1" y="202082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+ MediaPipe turns any projected wall into a gesture-controlled surface. No smartboard hardware required.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752344"/>
            <a:ext cx="36576" cy="73152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75234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CogniPlay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099816"/>
            <a:ext cx="384272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puzzle engine with 3PL-IRT adaptive scoring, 7-dimension cognitive profiling, and 15 category labels.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831336"/>
            <a:ext cx="36576" cy="73152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83133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4178808"/>
            <a:ext cx="384272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llama3 runs on-device. Powers whiteboard flowcharts and puzzle hints with local/private inference.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3775" y="447141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 — CV Active, wall host running</a:t>
            </a:r>
            <a:endParaRPr lang="en-US" sz="8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B9D6DA8-1F7C-0B1C-7E6B-B023B39C9E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12" t="9973" r="5257" b="20516"/>
          <a:stretch>
            <a:fillRect/>
          </a:stretch>
        </p:blipFill>
        <p:spPr>
          <a:xfrm>
            <a:off x="4526280" y="1995948"/>
            <a:ext cx="4227975" cy="23924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guided setup. No specialist knowledge required.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10973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23544" y="1371600"/>
            <a:ext cx="548640" cy="548640"/>
          </a:xfrm>
          <a:prstGeom prst="ellipse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23544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481328" y="1618488"/>
            <a:ext cx="576072" cy="34747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202996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webcam at wall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2450592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or built-in webcam plus existing display/projector.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1371600"/>
            <a:ext cx="548640" cy="548640"/>
          </a:xfrm>
          <a:prstGeom prst="ellipse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0604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63824" y="1618488"/>
            <a:ext cx="576072" cy="34747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66544" y="202996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4-tap perspective calibration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66544" y="2450592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wall corners. Homography computed instantly.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88536" y="1371600"/>
            <a:ext cx="548640" cy="548640"/>
          </a:xfrm>
          <a:prstGeom prst="ellipse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88536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1618488"/>
            <a:ext cx="576072" cy="34747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49040" y="202996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CogniPlay loads on projector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0" y="2450592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 streams into the iframe host.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71032" y="1371600"/>
            <a:ext cx="548640" cy="548640"/>
          </a:xfrm>
          <a:prstGeom prst="ellipse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71032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28816" y="1618488"/>
            <a:ext cx="576072" cy="34747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31536" y="202996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gestures to interact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31536" y="2450592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Pinch, drag, trace — tracked by MediaPipe Hands.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653528" y="1371600"/>
            <a:ext cx="548640" cy="548640"/>
          </a:xfrm>
          <a:prstGeom prst="ellipse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653528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14032" y="202996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 adapts difficulty live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14032" y="2450592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3PL-IRT updates ability estimate each attempt.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3090672"/>
            <a:ext cx="4069080" cy="1828800"/>
          </a:xfrm>
          <a:prstGeom prst="rect">
            <a:avLst/>
          </a:prstGeom>
          <a:solidFill>
            <a:srgbClr val="EBEBEB"/>
          </a:solidFill>
          <a:ln w="9525">
            <a:solidFill>
              <a:srgbClr val="D0D0D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480" y="4983480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World — activity selection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3090672"/>
            <a:ext cx="4069080" cy="1828800"/>
          </a:xfrm>
          <a:prstGeom prst="rect">
            <a:avLst/>
          </a:prstGeom>
          <a:solidFill>
            <a:srgbClr val="EBEBEB"/>
          </a:solidFill>
          <a:ln w="9525">
            <a:solidFill>
              <a:srgbClr val="D0D0D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63440" y="4983480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sorting — drag &amp; drop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TOUCHWALL — CV ENGINE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Tracker v3 — rebuilt from scratch for production reliability.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536192"/>
            <a:ext cx="502920" cy="201168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24128" y="1417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OneEuroFilter1D smoothing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691640"/>
            <a:ext cx="7543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Per-landmark (21 × {x,y,z}) filters eliminate jitter at the source.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139696"/>
            <a:ext cx="502920" cy="201168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24128" y="2020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Velocity-gated pinch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" y="2295144"/>
            <a:ext cx="7543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 triggers while moving are blocked. Real pinch occurs nearly stationary.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743200"/>
            <a:ext cx="502920" cy="201168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7432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24128" y="26243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pinch hysteresis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24128" y="2898648"/>
            <a:ext cx="7543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across multiple consecutive frames. Eliminates single-frame glitch triggers.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346704"/>
            <a:ext cx="502920" cy="201168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34670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24128" y="32278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hand-plane depth (Z)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4128" y="3502152"/>
            <a:ext cx="7543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entire hand plane — not a single fingertip — for accurate push-forward depth.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950208"/>
            <a:ext cx="502920" cy="201168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39502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24128" y="38313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distanceFromScreen scaling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" y="4105656"/>
            <a:ext cx="7543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depth thresholds for 50cm–3m from wall. Same feel at any projection range.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4553712"/>
            <a:ext cx="502920" cy="201168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455371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24128" y="4434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Frame-rate-independent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24128" y="4709160"/>
            <a:ext cx="7543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deltas (dt tracking): stable frequency response at 30fps, 60fps, or variable.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WHITEBOARD ENGINE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Draw, explain, generate flowcharts locally. No cloud dependency.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10973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307592"/>
            <a:ext cx="36576" cy="82296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3075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ShapeClassifier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stroke beautification. Circle, rectangle, triangle, line, arrow — pure geometry. No GPU, no API calls.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404872"/>
            <a:ext cx="36576" cy="82296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4048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 Copilot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7432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llama3 generates text, definitions, flowcharts, tables, and word-charts locally.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3502152"/>
            <a:ext cx="36576" cy="82296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35021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Assist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84048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on/off. Laser pointer mode. Undo/redo stack. Brush, eraser, size controls.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4069080" cy="1691640"/>
          </a:xfrm>
          <a:prstGeom prst="rect">
            <a:avLst/>
          </a:prstGeom>
          <a:solidFill>
            <a:srgbClr val="EBEBEB"/>
          </a:solidFill>
          <a:ln w="9525">
            <a:solidFill>
              <a:srgbClr val="D0D0D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2944368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 with Shape Assist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4069080" cy="1691640"/>
          </a:xfrm>
          <a:prstGeom prst="rect">
            <a:avLst/>
          </a:prstGeom>
          <a:solidFill>
            <a:srgbClr val="EBEBEB"/>
          </a:solidFill>
          <a:ln w="9525">
            <a:solidFill>
              <a:srgbClr val="D0D0D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4773168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water cycle flowchart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COGNIPLAY — PUZZLE ENGINE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play modes plus 15 category labels. Adaptive on every attempt.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444752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38988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168249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a shape choice and drop into the target zone.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2139696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20848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Maze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2377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path with your hand — wall collision detected.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834640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277977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Play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307238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colour/shape sequence.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529584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34747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Reveal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37673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Memorise, then recall the hidden light order.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422452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4169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Match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44622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item to category card.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37760" y="347472"/>
            <a:ext cx="1920240" cy="2148840"/>
          </a:xfrm>
          <a:prstGeom prst="rect">
            <a:avLst/>
          </a:prstGeom>
          <a:solidFill>
            <a:srgbClr val="181818"/>
          </a:solidFill>
          <a:ln w="9525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0" y="25603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Play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949440" y="347472"/>
            <a:ext cx="1920240" cy="2148840"/>
          </a:xfrm>
          <a:prstGeom prst="rect">
            <a:avLst/>
          </a:prstGeom>
          <a:solidFill>
            <a:srgbClr val="181818"/>
          </a:solidFill>
          <a:ln w="9525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49440" y="25603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Lights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937760" y="2633472"/>
            <a:ext cx="1920240" cy="2148840"/>
          </a:xfrm>
          <a:prstGeom prst="rect">
            <a:avLst/>
          </a:prstGeom>
          <a:solidFill>
            <a:srgbClr val="181818"/>
          </a:solidFill>
          <a:ln w="9525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48463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Recall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49440" y="2633472"/>
            <a:ext cx="1920240" cy="2148840"/>
          </a:xfrm>
          <a:prstGeom prst="rect">
            <a:avLst/>
          </a:prstGeom>
          <a:solidFill>
            <a:srgbClr val="181818"/>
          </a:solidFill>
          <a:ln w="9525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949440" y="48463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Play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SCORING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keep children in the zone — less boredom, less frustration.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10973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353312"/>
            <a:ext cx="8321040" cy="96012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P(θ) = c + (1 − c) / (1 + e^{−a(θ−b)})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93852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3PL-IRT — Three Parameter Logistic Item Response Theory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2514600"/>
            <a:ext cx="2011680" cy="233172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9496" y="26060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39496" y="321868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ability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9496" y="3547872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Bayesian after each attempt. Personalised per child.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42032" y="2514600"/>
            <a:ext cx="2011680" cy="233172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70048" y="26060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670048" y="321868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difficulty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70048" y="3547872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prototype parameters. Pilot calibration planned.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72584" y="2514600"/>
            <a:ext cx="2011680" cy="233172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26060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800600" y="321868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discrimination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3547872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sharply the item separates adjacent ability levels.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03136" y="2514600"/>
            <a:ext cx="2011680" cy="233172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31152" y="26060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931152" y="321868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 parameter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31152" y="3547872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Chance-level floor. Prevents lucky streaks from inflating θ.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DNA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7-dimension cognitive profile. Built live. Visible to child, parent, teacher.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472184"/>
            <a:ext cx="3108960" cy="256032"/>
          </a:xfrm>
          <a:prstGeom prst="rect">
            <a:avLst/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472184"/>
            <a:ext cx="1384274" cy="256032"/>
          </a:xfrm>
          <a:prstGeom prst="rect">
            <a:avLst/>
          </a:prstGeom>
          <a:solidFill>
            <a:srgbClr val="009960"/>
          </a:solidFill>
          <a:ln w="12700">
            <a:solidFill>
              <a:srgbClr val="0099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39312" y="14081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Control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21808" y="1408176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focus across puzzle sets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993392"/>
            <a:ext cx="3108960" cy="256032"/>
          </a:xfrm>
          <a:prstGeom prst="rect">
            <a:avLst/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1993392"/>
            <a:ext cx="2113395" cy="256032"/>
          </a:xfrm>
          <a:prstGeom prst="rect">
            <a:avLst/>
          </a:prstGeom>
          <a:solidFill>
            <a:srgbClr val="009960"/>
          </a:solidFill>
          <a:ln w="12700">
            <a:solidFill>
              <a:srgbClr val="0099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39312" y="192938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Memory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21808" y="192938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sequence then recall it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514600"/>
            <a:ext cx="3108960" cy="256032"/>
          </a:xfrm>
          <a:prstGeom prst="rect">
            <a:avLst/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2514600"/>
            <a:ext cx="1713260" cy="256032"/>
          </a:xfrm>
          <a:prstGeom prst="rect">
            <a:avLst/>
          </a:prstGeom>
          <a:solidFill>
            <a:srgbClr val="009960"/>
          </a:solidFill>
          <a:ln w="12700">
            <a:solidFill>
              <a:srgbClr val="0099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39312" y="24505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21808" y="245059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correct responses improve score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035808"/>
            <a:ext cx="3108960" cy="256032"/>
          </a:xfrm>
          <a:prstGeom prst="rect">
            <a:avLst/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3035808"/>
            <a:ext cx="1585936" cy="256032"/>
          </a:xfrm>
          <a:prstGeom prst="rect">
            <a:avLst/>
          </a:prstGeom>
          <a:solidFill>
            <a:srgbClr val="009960"/>
          </a:solidFill>
          <a:ln w="12700">
            <a:solidFill>
              <a:srgbClr val="0099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39312" y="29718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Logic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21808" y="297180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rules and complete sequences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557016"/>
            <a:ext cx="3108960" cy="256032"/>
          </a:xfrm>
          <a:prstGeom prst="rect">
            <a:avLst/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3557016"/>
            <a:ext cx="1789573" cy="256032"/>
          </a:xfrm>
          <a:prstGeom prst="rect">
            <a:avLst/>
          </a:prstGeom>
          <a:solidFill>
            <a:srgbClr val="009960"/>
          </a:solidFill>
          <a:ln w="12700">
            <a:solidFill>
              <a:srgbClr val="0099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39312" y="34930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Reasoning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21808" y="349300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Rotate, mirror, fit shapes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4078224"/>
            <a:ext cx="3108960" cy="256032"/>
          </a:xfrm>
          <a:prstGeom prst="rect">
            <a:avLst/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11480" y="4078224"/>
            <a:ext cx="1693915" cy="256032"/>
          </a:xfrm>
          <a:prstGeom prst="rect">
            <a:avLst/>
          </a:prstGeom>
          <a:solidFill>
            <a:srgbClr val="009960"/>
          </a:solidFill>
          <a:ln w="12700">
            <a:solidFill>
              <a:srgbClr val="0099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39312" y="4014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Speed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21808" y="4014216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θ ascent per session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4599432"/>
            <a:ext cx="3108960" cy="256032"/>
          </a:xfrm>
          <a:prstGeom prst="rect">
            <a:avLst/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1480" y="4599432"/>
            <a:ext cx="1432737" cy="256032"/>
          </a:xfrm>
          <a:prstGeom prst="rect">
            <a:avLst/>
          </a:prstGeom>
          <a:solidFill>
            <a:srgbClr val="009960"/>
          </a:solidFill>
          <a:ln w="12700">
            <a:solidFill>
              <a:srgbClr val="0099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39312" y="453542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Persistence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21808" y="453542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Hints, retries, and perseverance signals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0" y="347472"/>
            <a:ext cx="1965960" cy="4434840"/>
          </a:xfrm>
          <a:prstGeom prst="rect">
            <a:avLst/>
          </a:prstGeom>
          <a:solidFill>
            <a:srgbClr val="181818"/>
          </a:solidFill>
          <a:ln w="9525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0" y="484632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DNA — radar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059168" y="347472"/>
            <a:ext cx="1810512" cy="4434840"/>
          </a:xfrm>
          <a:prstGeom prst="rect">
            <a:avLst/>
          </a:prstGeom>
          <a:solidFill>
            <a:srgbClr val="181818"/>
          </a:solidFill>
          <a:ln w="9525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059168" y="4846320"/>
            <a:ext cx="1810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breakdown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&amp; SUBTITLES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sessions. Local Whisper can burn subtitles on-device.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10973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353312"/>
            <a:ext cx="4069080" cy="74980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45720" cy="74980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444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Recording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556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screen capture with teacher camera picture-in-picture.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231136"/>
            <a:ext cx="4069080" cy="74980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2231136"/>
            <a:ext cx="45720" cy="74980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3225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Live Subtitles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6334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configured, Whisper / whisper.cpp runs locally. No cloud audio upload.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108960"/>
            <a:ext cx="4069080" cy="74980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3108960"/>
            <a:ext cx="45720" cy="74980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Burn-in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5112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Subtitles baked into the recording file for accessibility.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986784"/>
            <a:ext cx="4069080" cy="74980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3986784"/>
            <a:ext cx="45720" cy="74980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40782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Upload (Roadmap)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43891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download today; school cloud storage integration planned.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261872"/>
            <a:ext cx="4069080" cy="3520440"/>
          </a:xfrm>
          <a:prstGeom prst="rect">
            <a:avLst/>
          </a:prstGeom>
          <a:solidFill>
            <a:srgbClr val="EBEBEB"/>
          </a:solidFill>
          <a:ln w="9525">
            <a:solidFill>
              <a:srgbClr val="D0D0D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4846320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Recording — live subtitle area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DASHBOARD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progress. No data science degree required.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517904"/>
            <a:ext cx="182880" cy="18288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4264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Score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70078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IRT-derived ability estimate (0–1000 scale).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130552"/>
            <a:ext cx="182880" cy="18288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0391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Streak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31343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play days — builds habit and retention.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743200"/>
            <a:ext cx="182880" cy="18288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9260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dimensions with parent-friendly labels.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355848"/>
            <a:ext cx="182880" cy="18288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264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to Grow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53872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dimensions with encouraging framing.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968496"/>
            <a:ext cx="182880" cy="18288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38770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Activity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15137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puzzles-solved chart. Mock data in prototype.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4581144"/>
            <a:ext cx="182880" cy="18288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44897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at Home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76402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home activities for parent reinforcement.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37760" y="347472"/>
            <a:ext cx="1965960" cy="4434840"/>
          </a:xfrm>
          <a:prstGeom prst="rect">
            <a:avLst/>
          </a:prstGeom>
          <a:solidFill>
            <a:srgbClr val="181818"/>
          </a:solidFill>
          <a:ln w="9525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37760" y="484632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+ score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967728" y="347472"/>
            <a:ext cx="1920240" cy="4434840"/>
          </a:xfrm>
          <a:prstGeom prst="rect">
            <a:avLst/>
          </a:prstGeom>
          <a:solidFill>
            <a:srgbClr val="181818"/>
          </a:solidFill>
          <a:ln w="9525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67728" y="48463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chart + achievements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DASHBOARD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class-level analytics. Identify support needs early.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10973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353312"/>
            <a:ext cx="4069080" cy="603504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45720" cy="603504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Cognitive Profile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8249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radar chart aggregated from mock students.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084832"/>
            <a:ext cx="4069080" cy="603504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2084832"/>
            <a:ext cx="45720" cy="603504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1488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Distribution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41401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bar chart: how students cluster across score bands.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816352"/>
            <a:ext cx="4069080" cy="603504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2816352"/>
            <a:ext cx="45720" cy="603504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8803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Heatmap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14553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per-student × per-dimension grid. Colour-coded weak spots.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547872"/>
            <a:ext cx="4069080" cy="603504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3547872"/>
            <a:ext cx="45720" cy="603504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611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Needing Attention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87705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flags by declining trend or below-threshold score.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4279392"/>
            <a:ext cx="4069080" cy="603504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4279392"/>
            <a:ext cx="45720" cy="603504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43434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460857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demo suggestions; AI recommendations planned.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1188720"/>
            <a:ext cx="4069080" cy="3657600"/>
          </a:xfrm>
          <a:prstGeom prst="rect">
            <a:avLst/>
          </a:prstGeom>
          <a:solidFill>
            <a:srgbClr val="EBEBEB"/>
          </a:solidFill>
          <a:ln w="9525">
            <a:solidFill>
              <a:srgbClr val="D0D0D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63440" y="4910328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heatmap + score distribution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FF3E0"/>
          </a:solidFill>
          <a:ln w="9525">
            <a:solidFill>
              <a:srgbClr val="C9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82880" y="486460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Prototype note: teacher dashboard currently uses hardcoded mock students. Real roster integration is the highest-priority next sprint.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audiences. One platform. Each experience purpose-built.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(ages 3–5)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956816"/>
            <a:ext cx="201168" cy="20116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04088" y="1865376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age setup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468880"/>
            <a:ext cx="201168" cy="20116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088" y="237744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selection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980944"/>
            <a:ext cx="201168" cy="20116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4088" y="2889504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 play — drag, trace, match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493008"/>
            <a:ext cx="201168" cy="20116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4088" y="3401568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hint on demand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4005072"/>
            <a:ext cx="201168" cy="20116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4088" y="3913632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· XP · badge reward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4517136"/>
            <a:ext cx="201168" cy="20116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" y="4425696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DNA radar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37560" y="1956816"/>
            <a:ext cx="201168" cy="20116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30168" y="1865376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TouchWall setup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2468880"/>
            <a:ext cx="201168" cy="20116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30168" y="237744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projection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2980944"/>
            <a:ext cx="201168" cy="20116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30168" y="2889504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CogniPlay or Whiteboard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37560" y="3493008"/>
            <a:ext cx="201168" cy="20116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30168" y="3401568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class heatmap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37560" y="4005072"/>
            <a:ext cx="201168" cy="20116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30168" y="3913632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session + subtitles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37560" y="4517136"/>
            <a:ext cx="201168" cy="20116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30168" y="4425696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on flagged students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63640" y="1956816"/>
            <a:ext cx="201168" cy="20116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56248" y="1865376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Learning DNA radar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2468880"/>
            <a:ext cx="201168" cy="20116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56248" y="237744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+ growth areas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63640" y="2980944"/>
            <a:ext cx="201168" cy="20116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556248" y="2889504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activity chart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63640" y="3493008"/>
            <a:ext cx="201168" cy="20116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556248" y="3401568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home tips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63640" y="4005072"/>
            <a:ext cx="201168" cy="20116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56248" y="3913632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notes; logs planned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63640" y="4517136"/>
            <a:ext cx="201168" cy="20116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556248" y="4425696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over time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stack. No unnecessary dependencies. Built to ship.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10973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321040" cy="347472"/>
          </a:xfrm>
          <a:prstGeom prst="rect">
            <a:avLst/>
          </a:prstGeom>
          <a:solidFill>
            <a:srgbClr val="F2F2F0"/>
          </a:solidFill>
          <a:ln w="635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Shell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23160" y="13258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15000" y="13258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npm dependencies on host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595360" y="1353312"/>
            <a:ext cx="109728" cy="20116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1728216"/>
            <a:ext cx="8321040" cy="347472"/>
          </a:xfrm>
          <a:prstGeom prst="rect">
            <a:avLst/>
          </a:prstGeom>
          <a:solidFill>
            <a:srgbClr val="F2F2F0"/>
          </a:solidFill>
          <a:ln w="635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7556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Tracking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23160" y="17556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Hands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15000" y="17556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landmarks · OneEuroFilter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595360" y="1783080"/>
            <a:ext cx="109728" cy="20116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2157984"/>
            <a:ext cx="8321040" cy="347472"/>
          </a:xfrm>
          <a:prstGeom prst="rect">
            <a:avLst/>
          </a:prstGeom>
          <a:solidFill>
            <a:srgbClr val="F2F2F0"/>
          </a:solidFill>
          <a:ln w="635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18541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Bridge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23160" y="21854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CoreGraphics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15000" y="218541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now · Windows port planned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595360" y="2212848"/>
            <a:ext cx="109728" cy="20116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2587752"/>
            <a:ext cx="8321040" cy="347472"/>
          </a:xfrm>
          <a:prstGeom prst="rect">
            <a:avLst/>
          </a:prstGeom>
          <a:solidFill>
            <a:srgbClr val="F2F2F0"/>
          </a:solidFill>
          <a:ln w="635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26151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23160" y="26151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15000" y="261518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CogniPlay transitions + rewards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595360" y="2642616"/>
            <a:ext cx="109728" cy="20116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1480" y="3017520"/>
            <a:ext cx="8321040" cy="347472"/>
          </a:xfrm>
          <a:prstGeom prst="rect">
            <a:avLst/>
          </a:prstGeom>
          <a:solidFill>
            <a:srgbClr val="F2F2F0"/>
          </a:solidFill>
          <a:ln w="635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" y="30449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App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23160" y="30449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8 + 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15000" y="3044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CogniPlay puzzle prototype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595360" y="3072384"/>
            <a:ext cx="109728" cy="20116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11480" y="3447288"/>
            <a:ext cx="8321040" cy="347472"/>
          </a:xfrm>
          <a:prstGeom prst="rect">
            <a:avLst/>
          </a:prstGeom>
          <a:solidFill>
            <a:srgbClr val="F2F2F0"/>
          </a:solidFill>
          <a:ln w="635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" y="34747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23160" y="34747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+ localStorage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15000" y="34747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Prototype-grade persistence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595360" y="3502152"/>
            <a:ext cx="109728" cy="20116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11480" y="3877056"/>
            <a:ext cx="8321040" cy="347472"/>
          </a:xfrm>
          <a:prstGeom prst="rect">
            <a:avLst/>
          </a:prstGeom>
          <a:solidFill>
            <a:srgbClr val="F2F2F0"/>
          </a:solidFill>
          <a:ln w="635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94360" y="39044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(local)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423160" y="39044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llama3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15000" y="39044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· no cloud dependency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595360" y="3931920"/>
            <a:ext cx="109728" cy="20116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11480" y="4306824"/>
            <a:ext cx="8321040" cy="347472"/>
          </a:xfrm>
          <a:prstGeom prst="rect">
            <a:avLst/>
          </a:prstGeom>
          <a:solidFill>
            <a:srgbClr val="FFF8F5"/>
          </a:solidFill>
          <a:ln w="6350">
            <a:solidFill>
              <a:srgbClr val="FF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94360" y="433425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Auth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423160" y="43342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yet built —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15000" y="433425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/ Firebase · Sprint 1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595360" y="4361688"/>
            <a:ext cx="109728" cy="20116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11480" y="4736592"/>
            <a:ext cx="8321040" cy="347472"/>
          </a:xfrm>
          <a:prstGeom prst="rect">
            <a:avLst/>
          </a:prstGeom>
          <a:solidFill>
            <a:srgbClr val="FFF8F5"/>
          </a:solidFill>
          <a:ln w="6350">
            <a:solidFill>
              <a:srgbClr val="FF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94360" y="47640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423160" y="47640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yet built —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715000" y="476402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roadmap item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595360" y="4791456"/>
            <a:ext cx="109728" cy="20116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STATUS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— impressive prototype, clear roadmap.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7190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tracking v3 with OneEuroFilter smoothing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1810512"/>
            <a:ext cx="91440" cy="9144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" y="20391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4-point homography calibration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130552"/>
            <a:ext cx="91440" cy="9144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23591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macOS cursor bridge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450592"/>
            <a:ext cx="91440" cy="9144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" y="26791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CogniPlay full puzzle play loop (React 19 / Vite 8)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770632"/>
            <a:ext cx="91440" cy="9144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29992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3PL-IRT adaptive difficulty engine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090672"/>
            <a:ext cx="91440" cy="9144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3319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7-dim cognitive profiler with EMA scoring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410712"/>
            <a:ext cx="91440" cy="9144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" y="36393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classifier — offline stroke beautification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730752"/>
            <a:ext cx="91440" cy="9144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0352" y="39593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whiteboard: text, flowcharts, tables, sketches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4050792"/>
            <a:ext cx="91440" cy="9144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" y="4279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+ camera PiP recording with caption burn-in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4370832"/>
            <a:ext cx="91440" cy="9144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0352" y="45994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dashboard (local profile data)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4690872"/>
            <a:ext cx="91440" cy="9144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3440" y="1234440"/>
            <a:ext cx="10973" cy="361188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1325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Roadmap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83480" y="17190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database (Supabase/Firebase)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1810512"/>
            <a:ext cx="91440" cy="91440"/>
          </a:xfrm>
          <a:prstGeom prst="rect">
            <a:avLst/>
          </a:prstGeom>
          <a:solidFill>
            <a:srgbClr val="C98A00"/>
          </a:solidFill>
          <a:ln w="12700">
            <a:solidFill>
              <a:srgbClr val="C9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83480" y="20665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 (teacher / parent / student)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2157984"/>
            <a:ext cx="91440" cy="91440"/>
          </a:xfrm>
          <a:prstGeom prst="rect">
            <a:avLst/>
          </a:prstGeom>
          <a:solidFill>
            <a:srgbClr val="C98A00"/>
          </a:solidFill>
          <a:ln w="12700">
            <a:solidFill>
              <a:srgbClr val="C9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83480" y="24140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classroom roster and student linking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2505456"/>
            <a:ext cx="91440" cy="91440"/>
          </a:xfrm>
          <a:prstGeom prst="rect">
            <a:avLst/>
          </a:prstGeom>
          <a:solidFill>
            <a:srgbClr val="C98A00"/>
          </a:solidFill>
          <a:ln w="12700">
            <a:solidFill>
              <a:srgbClr val="C9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83480" y="27614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AI puzzle generation after validation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46320" y="2852928"/>
            <a:ext cx="91440" cy="91440"/>
          </a:xfrm>
          <a:prstGeom prst="rect">
            <a:avLst/>
          </a:prstGeom>
          <a:solidFill>
            <a:srgbClr val="C98A00"/>
          </a:solidFill>
          <a:ln w="12700">
            <a:solidFill>
              <a:srgbClr val="C9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83480" y="3108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cursor bridge (win32api)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46320" y="3200400"/>
            <a:ext cx="91440" cy="91440"/>
          </a:xfrm>
          <a:prstGeom prst="rect">
            <a:avLst/>
          </a:prstGeom>
          <a:solidFill>
            <a:srgbClr val="C98A00"/>
          </a:solidFill>
          <a:ln w="12700">
            <a:solidFill>
              <a:srgbClr val="C9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983480" y="34564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 and multi-device support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46320" y="3547872"/>
            <a:ext cx="91440" cy="91440"/>
          </a:xfrm>
          <a:prstGeom prst="rect">
            <a:avLst/>
          </a:prstGeom>
          <a:solidFill>
            <a:srgbClr val="C98A00"/>
          </a:solidFill>
          <a:ln w="12700">
            <a:solidFill>
              <a:srgbClr val="C9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83480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accessibility audit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46320" y="3895344"/>
            <a:ext cx="91440" cy="91440"/>
          </a:xfrm>
          <a:prstGeom prst="rect">
            <a:avLst/>
          </a:prstGeom>
          <a:solidFill>
            <a:srgbClr val="C98A00"/>
          </a:solidFill>
          <a:ln w="12700">
            <a:solidFill>
              <a:srgbClr val="C9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983480" y="41513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authoring tool for teachers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46320" y="4242816"/>
            <a:ext cx="91440" cy="91440"/>
          </a:xfrm>
          <a:prstGeom prst="rect">
            <a:avLst/>
          </a:prstGeom>
          <a:solidFill>
            <a:srgbClr val="C98A00"/>
          </a:solidFill>
          <a:ln w="12700">
            <a:solidFill>
              <a:srgbClr val="C9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983480" y="44988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Efficacy study + item calibration data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46320" y="4590288"/>
            <a:ext cx="91440" cy="91440"/>
          </a:xfrm>
          <a:prstGeom prst="rect">
            <a:avLst/>
          </a:prstGeom>
          <a:solidFill>
            <a:srgbClr val="C98A00"/>
          </a:solidFill>
          <a:ln w="12700">
            <a:solidFill>
              <a:srgbClr val="C9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market. Underserved with software-first, adaptive solutions.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10973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353312"/>
            <a:ext cx="2011680" cy="228600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2011680" cy="50292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$187B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217627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EdTech 2025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View Research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42032" y="1353312"/>
            <a:ext cx="2011680" cy="228600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42032" y="1353312"/>
            <a:ext cx="2011680" cy="50292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79192" y="1444752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$54B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679192" y="217627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Display Market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79192" y="26060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Business Insights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72584" y="1353312"/>
            <a:ext cx="2011680" cy="228600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72584" y="1353312"/>
            <a:ext cx="2011680" cy="50292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9744" y="1444752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809744" y="217627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Childhood focus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9744" y="26060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/ World Bank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03136" y="1353312"/>
            <a:ext cx="2011680" cy="228600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03136" y="1353312"/>
            <a:ext cx="2011680" cy="50292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40296" y="1444752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940296" y="217627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existing display + webcam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0296" y="26060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dedicated smartboard hardware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37947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Sustainable Development Goals alignment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4069080"/>
            <a:ext cx="2743200" cy="896112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413308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61288" y="4133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Education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442569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personalised learning for every child regardless of budget.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37560" y="4069080"/>
            <a:ext cx="2743200" cy="896112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74720" y="413308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087368" y="4133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Inequalities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74720" y="442569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Software-only removes hardware cost as a barrier to smart classrooms.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63640" y="4069080"/>
            <a:ext cx="2743200" cy="896112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0" y="413308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13448" y="4133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for Goals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442569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model lets schools, NGOs, and EdTechs build on it.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software-first, offline-capable, cognitively adaptive interactive wall.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103120" y="1353312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smartboard hardware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93008" y="1353312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82896" y="1353312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scoring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72784" y="1353312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profiling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62672" y="1353312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cost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719072"/>
            <a:ext cx="8321040" cy="10973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1883664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Board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1883664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93008" y="1883664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82896" y="1883664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72784" y="1883664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62672" y="1883664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$5–15K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377440"/>
            <a:ext cx="8321040" cy="7315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505456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03120" y="2505456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93008" y="2505456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82896" y="2505456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72784" y="2505456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662672" y="2505456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$100+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2999232"/>
            <a:ext cx="8321040" cy="7315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127248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Kahoot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03120" y="3127248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93008" y="3127248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82896" y="3127248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72784" y="3127248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62672" y="3127248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3621024"/>
            <a:ext cx="8321040" cy="7315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374904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 ABC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103120" y="374904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493008" y="374904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82896" y="374904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72784" y="374904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662672" y="374904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1480" y="4242816"/>
            <a:ext cx="8321040" cy="7315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11480" y="4261104"/>
            <a:ext cx="8321040" cy="658368"/>
          </a:xfrm>
          <a:prstGeom prst="rect">
            <a:avLst/>
          </a:prstGeom>
          <a:solidFill>
            <a:srgbClr val="1A2A1A"/>
          </a:solidFill>
          <a:ln w="12700">
            <a:solidFill>
              <a:srgbClr val="2A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2920" y="437083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CogniPlay Studio ★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103120" y="4370832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493008" y="4370832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82896" y="4370832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72784" y="4370832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62672" y="4370832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11480" y="486460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CogniPlay combines software-first wall interaction, local AI, adaptive IRT, and 7-dimension cognitive profiling in one prototype.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SaaS at the core. Multiple growth channels.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10973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2743200" cy="157276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2743200" cy="54864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6072" y="140817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SaaS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" y="175564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 / yr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76072" y="217627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per school · unlimited students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261872"/>
            <a:ext cx="2743200" cy="157276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56432" y="140817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 Centers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56432" y="175564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 / mo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56432" y="217627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clinics · early intervention · SEND programs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743200" cy="157276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36792" y="140817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Bundle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36792" y="175564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36792" y="217627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Projector + webcam + guided setup + 1-year SaaS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072384"/>
            <a:ext cx="2743200" cy="157276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6072" y="321868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Packs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6072" y="35661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 each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76072" y="398678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Phonics · numeracy · STEM · bilingual packs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91840" y="3072384"/>
            <a:ext cx="2743200" cy="157276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56432" y="321868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Educator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56432" y="35661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→ $9.99/mo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456432" y="398678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 + advanced reports unlocked on paid tier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72200" y="3072384"/>
            <a:ext cx="2743200" cy="157276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36792" y="321868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API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36792" y="35661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pricing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336792" y="398678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cognitive profiling engine to EdTech partners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Community-led pilots. Monetise the SaaS and content layer.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Playbook: pilot-first community adoption, then monetise cloud sync, curriculum packs, and school support.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828800"/>
            <a:ext cx="2011680" cy="2999232"/>
          </a:xfrm>
          <a:prstGeom prst="rect">
            <a:avLst/>
          </a:prstGeom>
          <a:solidFill>
            <a:srgbClr val="111111"/>
          </a:solidFill>
          <a:ln w="9525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2011680" cy="50292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208" y="1901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Now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21208" y="21762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+ Pilot Proof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1208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Demo live at hackathon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21208" y="32735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Demo feedback + community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21208" y="380390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Public repo/docs when ready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0" y="1828800"/>
            <a:ext cx="2011680" cy="2999232"/>
          </a:xfrm>
          <a:prstGeom prst="rect">
            <a:avLst/>
          </a:prstGeom>
          <a:solidFill>
            <a:srgbClr val="111111"/>
          </a:solidFill>
          <a:ln w="9525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60320" y="1828800"/>
            <a:ext cx="2011680" cy="50292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70048" y="1901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M1–M3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70048" y="21762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Pilot Partners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70048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Schools + therapy centres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70048" y="32735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Co-design sessions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70048" y="380390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Efficacy + classroom data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1828800"/>
            <a:ext cx="2011680" cy="2999232"/>
          </a:xfrm>
          <a:prstGeom prst="rect">
            <a:avLst/>
          </a:prstGeom>
          <a:solidFill>
            <a:srgbClr val="111111"/>
          </a:solidFill>
          <a:ln w="9525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1828800"/>
            <a:ext cx="2011680" cy="50292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18888" y="1901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M4–M8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18888" y="21762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Launch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18888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Backend + auth shipped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18888" y="32735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App store + SaaS billing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18888" y="380390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100 paying licenses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58000" y="1828800"/>
            <a:ext cx="2011680" cy="2999232"/>
          </a:xfrm>
          <a:prstGeom prst="rect">
            <a:avLst/>
          </a:prstGeom>
          <a:solidFill>
            <a:srgbClr val="111111"/>
          </a:solidFill>
          <a:ln w="9525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58000" y="1828800"/>
            <a:ext cx="2011680" cy="50292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67728" y="1901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M9–M18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967728" y="21762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67728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District-level deals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67728" y="32735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Hardware bundles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67728" y="380390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International expansion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ARR TRAJECTORY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ARR model: $180K → $1.2M → $5.8M over 3 years.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10973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2743200" cy="146304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2743200" cy="50292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6072" y="135331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6072" y="1609344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76072" y="232257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schools + therapy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261872"/>
            <a:ext cx="2743200" cy="146304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37560" y="1261872"/>
            <a:ext cx="2743200" cy="50292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02152" y="135331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02152" y="1609344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502152" y="232257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schools + packs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1261872"/>
            <a:ext cx="2743200" cy="146304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63640" y="1261872"/>
            <a:ext cx="2743200" cy="50292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28232" y="135331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28232" y="1609344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$5.8M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428232" y="232257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schools + API</a:t>
            </a:r>
            <a:endParaRPr lang="en-US" sz="10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411480" y="2852928"/>
          <a:ext cx="832104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what's missing. Here's exactly how we fix it.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426464"/>
            <a:ext cx="8321040" cy="43891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2A0A00"/>
          </a:solidFill>
          <a:ln w="6350">
            <a:solidFill>
              <a:srgbClr val="E05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353312" y="147218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 / auth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0" y="147218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1: Supabase + JWT. 6-week implementation estimate.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1956816"/>
            <a:ext cx="8321040" cy="43891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2011680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2A0A00"/>
          </a:solidFill>
          <a:ln w="6350">
            <a:solidFill>
              <a:srgbClr val="E05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01168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353312" y="200253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teacher dashboard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31920" y="200253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MOCK_STUDENTS after backend + real roster lands.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487168"/>
            <a:ext cx="8321040" cy="43891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2542032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2A0A00"/>
          </a:solidFill>
          <a:ln w="6350">
            <a:solidFill>
              <a:srgbClr val="E05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542032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353312" y="253288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data / COPPA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31920" y="253288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PII in prototype. Local browser stores learner profile; consent flow planned.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017520"/>
            <a:ext cx="8321040" cy="43891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2920" y="3072384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2A1A00"/>
          </a:solidFill>
          <a:ln w="6350">
            <a:solidFill>
              <a:srgbClr val="C9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072384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353312" y="30632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reliability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931920" y="3063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 via HSV colour markers. Wizard &lt; 3 min. In testing.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547872"/>
            <a:ext cx="8321040" cy="43891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2920" y="3602736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2A1A00"/>
          </a:solidFill>
          <a:ln w="6350">
            <a:solidFill>
              <a:srgbClr val="C9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3602736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353312" y="35935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macOS-only cursor bridge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31920" y="359359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bridge via win32api in development. 8-week estimate.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1480" y="4078224"/>
            <a:ext cx="8321040" cy="43891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02920" y="4133088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2A1A00"/>
          </a:solidFill>
          <a:ln w="6350">
            <a:solidFill>
              <a:srgbClr val="C9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413308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353312" y="412394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puzzle gen disabled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931920" y="412394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validated generation path; current puzzles are procedural.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1480" y="4608576"/>
            <a:ext cx="8321040" cy="43891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02920" y="4663440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2A1A00"/>
          </a:solidFill>
          <a:ln w="6350">
            <a:solidFill>
              <a:srgbClr val="C9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2920" y="466344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353312" y="465429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dependency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931920" y="465429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 — recording works without Whisper; subtitles optional.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founders. Every core discipline covered.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10973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4069080" cy="157276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777240" cy="77724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27048" y="1444752"/>
            <a:ext cx="2816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Engineer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27048" y="1792224"/>
            <a:ext cx="2816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Node · Vite · TypeScript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527048" y="2139696"/>
            <a:ext cx="2816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CogniPlay game engine, routing, all UI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261872"/>
            <a:ext cx="4069080" cy="157276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92040" y="1463040"/>
            <a:ext cx="777240" cy="77724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1463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24728" y="1444752"/>
            <a:ext cx="2816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Engineer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24728" y="1792224"/>
            <a:ext cx="2816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· Python · OpenCV · homography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824728" y="2139696"/>
            <a:ext cx="2816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TouchWall tracker v3, cursor bridge, calibration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090672"/>
            <a:ext cx="4069080" cy="157276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4360" y="3291840"/>
            <a:ext cx="777240" cy="77724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291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27048" y="3273552"/>
            <a:ext cx="2816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Engineer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27048" y="3621024"/>
            <a:ext cx="2816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 · EMA · LLMs · Ollama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527048" y="3968496"/>
            <a:ext cx="2816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3PL-IRT engine, CognitiveScorer, AI hints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3090672"/>
            <a:ext cx="4069080" cy="157276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92040" y="3291840"/>
            <a:ext cx="777240" cy="77724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3291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U/ED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24728" y="3273552"/>
            <a:ext cx="2816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EdTech Designer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24728" y="3621024"/>
            <a:ext cx="2816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UX · Framer Motion · Learning Science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24728" y="3968496"/>
            <a:ext cx="2816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UX, age-appropriate flows, Framer animations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DEMO GUIDE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access and navigate the clickable prototype.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live prototype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719072"/>
            <a:ext cx="832104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  /  localhost:3000/cogniplay  (run: node server.js)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48716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walkthrough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935224"/>
            <a:ext cx="219456" cy="219456"/>
          </a:xfrm>
          <a:prstGeom prst="ellipse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93522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49808" y="293522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/ CV Active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51760" y="2935224"/>
            <a:ext cx="5989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nav shows Puzzle Playground · Whiteboard · Recording · CV Engine. Check CV ACTIVE badge top-right.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236976"/>
            <a:ext cx="219456" cy="219456"/>
          </a:xfrm>
          <a:prstGeom prst="ellipse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2369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49808" y="323697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Home World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51760" y="3236976"/>
            <a:ext cx="5989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Continue Playing. See Shape Island, Pattern Room, Memory Train, Drawing Studio world cards.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3538728"/>
            <a:ext cx="219456" cy="219456"/>
          </a:xfrm>
          <a:prstGeom prst="ellipse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53872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49808" y="35387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 Puzzle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51760" y="3538728"/>
            <a:ext cx="5989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any world → Play. Try dragging a choice card to the 'Drop the piece here' zone.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3840480"/>
            <a:ext cx="219456" cy="219456"/>
          </a:xfrm>
          <a:prstGeom prst="ellipse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384048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49808" y="38404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Whiteboard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51760" y="3840480"/>
            <a:ext cx="5989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nav → Whiteboard. Type a topic in the AI box → click Flowchart. Watch it generate live.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4142232"/>
            <a:ext cx="219456" cy="219456"/>
          </a:xfrm>
          <a:prstGeom prst="ellipse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41422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49808" y="41422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Learning DNA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651760" y="4142232"/>
            <a:ext cx="5989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puzzle play → Settings → Parent Dashboard. Shows score, radar chart, dimension bars.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4443984"/>
            <a:ext cx="219456" cy="219456"/>
          </a:xfrm>
          <a:prstGeom prst="ellipse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" y="44439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49808" y="444398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Teacher Dashboard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651760" y="4443984"/>
            <a:ext cx="5989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Teacher Mode. Class cognitive profile, heatmap, students needing attention.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1480" y="4745736"/>
            <a:ext cx="219456" cy="219456"/>
          </a:xfrm>
          <a:prstGeom prst="ellipse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11480" y="47457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49808" y="474573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tab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651760" y="4745736"/>
            <a:ext cx="5989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nav → Recording. Shows Start Recording, Cloud Upload roadmap, Start Live Subtitles buttons.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ASKING FOR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 turn a strong prototype into a classroom-deployed product.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10973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353312"/>
            <a:ext cx="2743200" cy="349300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2743200" cy="54864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today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755648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cash ask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2542032"/>
            <a:ext cx="242316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+ visibility. Turns a compelling prototype into a credible product story for investors and school buyers.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353312"/>
            <a:ext cx="2743200" cy="349300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37560" y="1353312"/>
            <a:ext cx="27432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0440" y="14813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1–3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20440" y="1755648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pilot schools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20440" y="2542032"/>
            <a:ext cx="242316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or therapy centres to co-develop and stress-test before we charge. Real classroom data is everything.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353312"/>
            <a:ext cx="2743200" cy="349300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63640" y="1353312"/>
            <a:ext cx="2743200" cy="54864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46520" y="14813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runway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46520" y="1755648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 pre-seed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46520" y="2542032"/>
            <a:ext cx="242316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auth, Windows bridge, content packs, and one teacher-designer hire. Positions us for a proper seed round.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4864608"/>
            <a:ext cx="8321040" cy="4572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488289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vision: 10 million children · 2026 hackathon prototype → 2026 pilots → 2027 1M child profiles → 2028 API platform → 2029 10M children global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CogniPlay Studio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Wall.  Any Child.  Infinite Learning.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46120" y="2834640"/>
            <a:ext cx="265176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94436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verified locally; public repo pending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demo: localhost:3000/cogniplay · hello@cogniplay.io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3794760"/>
            <a:ext cx="2743200" cy="1051560"/>
          </a:xfrm>
          <a:prstGeom prst="rect">
            <a:avLst/>
          </a:prstGeom>
          <a:solidFill>
            <a:srgbClr val="111111"/>
          </a:solidFill>
          <a:ln w="635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3794760"/>
            <a:ext cx="2743200" cy="1051560"/>
          </a:xfrm>
          <a:prstGeom prst="rect">
            <a:avLst/>
          </a:prstGeom>
          <a:solidFill>
            <a:srgbClr val="111111"/>
          </a:solidFill>
          <a:ln w="635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63640" y="3794760"/>
            <a:ext cx="2743200" cy="1051560"/>
          </a:xfrm>
          <a:prstGeom prst="rect">
            <a:avLst/>
          </a:prstGeom>
          <a:solidFill>
            <a:srgbClr val="111111"/>
          </a:solidFill>
          <a:ln w="635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493776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CogniPlay Studio. Confidential.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2417</Words>
  <Application>Microsoft Macintosh PowerPoint</Application>
  <PresentationFormat>On-screen Show (16:9)</PresentationFormat>
  <Paragraphs>484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CogniPlay Studio — Pitch 2026</dc:title>
  <dc:subject>PptxGenJS Presentation</dc:subject>
  <dc:creator>PptxGenJS</dc:creator>
  <cp:lastModifiedBy>Arnav Khanna (ak32g25)</cp:lastModifiedBy>
  <cp:revision>2</cp:revision>
  <dcterms:created xsi:type="dcterms:W3CDTF">2026-06-03T09:10:10Z</dcterms:created>
  <dcterms:modified xsi:type="dcterms:W3CDTF">2026-06-03T10:09:22Z</dcterms:modified>
</cp:coreProperties>
</file>