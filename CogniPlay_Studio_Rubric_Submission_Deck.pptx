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49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3B48-4630-A565-C4CF-B049123B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B99B9-3794-8D5B-D6D0-009ECCF71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820E3-FF16-CAC3-9998-9DF9C8308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49959-0B51-DD20-48E2-8A0D3225E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86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6D23-9842-C06F-1633-D328C6C0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45E63-A175-0D6F-546C-7BD839ED3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C51E4-9AEF-97B8-7122-5EA57505C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4F175-94C7-5301-5C84-3C99FD08F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10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8593-6CFD-4FC2-76DA-17DBAB61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A2BDC-F3BA-B065-EF3E-50C329EC7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4D14E-228D-00EC-9A88-4A5263CD7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D5467-ABD3-1B4C-A416-64F7E77A97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5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hyperlink" Target="https://github.com/Mr-Blahaj/NeoTouc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r-Blahaj/NeoTouch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9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4846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CogniPlay Studio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1536192"/>
            <a:ext cx="4846320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DE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Please go through other links first. Low-cost AI smart learning wall for play-based early childhood education. Convert any wall into a smart display (touch) which can be used for play based learning to further develop cognitive and logical abilities and help identify key traits and suggest possible early intervention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2064" y="2569464"/>
            <a:ext cx="5212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Challenge: Early Childhood (3-6) | Quality of play-based early learning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2064" y="3108960"/>
            <a:ext cx="23317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3108960"/>
            <a:ext cx="54864" cy="1261872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3255264"/>
            <a:ext cx="2057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3547872"/>
            <a:ext cx="2057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USB webcam + extension cable + existing display/projector/TV.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99232" y="3108960"/>
            <a:ext cx="23317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99232" y="3108960"/>
            <a:ext cx="54864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3255264"/>
            <a:ext cx="2057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promise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63824" y="3547872"/>
            <a:ext cx="2057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wall becomes a smart board for movement-based play, drawing, and teacher support.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8229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06440" y="822960"/>
            <a:ext cx="54864" cy="114300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71032" y="969264"/>
            <a:ext cx="2148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71032" y="1261872"/>
            <a:ext cx="21488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host, whiteboard, games, recording, parent and teacher dashboard screens.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49640" y="8229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49640" y="82296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14232" y="969264"/>
            <a:ext cx="2148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Truthful scope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14232" y="1261872"/>
            <a:ext cx="21488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Implemented, semi-implemented, and roadmap features are separated.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24231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06440" y="2423160"/>
            <a:ext cx="54864" cy="1143000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71032" y="2569464"/>
            <a:ext cx="2148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stack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71032" y="2862072"/>
            <a:ext cx="21488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MediaPipe, Ollama llama3, Whisper, IRT, future insights.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49640" y="24231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49640" y="2423160"/>
            <a:ext cx="54864" cy="114300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14232" y="2569464"/>
            <a:ext cx="2148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14232" y="2862072"/>
            <a:ext cx="21488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 browser prototype maps all 10 requested features.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5623560"/>
            <a:ext cx="51206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DE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Rubric-aligned deck created from code audit + product evidence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5943600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A9BD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Prototype: /clickable-prototype/ | Local app: localhost:3000/cogniplay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RUBRIC 15% - PROBLEM FRAMING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and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21945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53035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childhood settings often struggle to deliver high-quality, developmentally appropriate, play-based learning consistently across contexts.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54864" cy="123444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2889504"/>
            <a:ext cx="2331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a screen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" y="3182112"/>
            <a:ext cx="233172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Frontline workers need simple daily support for playful, guided, locally relevant activities.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274320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2743200"/>
            <a:ext cx="54864" cy="1234440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2889504"/>
            <a:ext cx="2331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Continuity gap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3182112"/>
            <a:ext cx="233172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Parents and educators rarely get plain-language visibility into strengths, growth areas, and next steps.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55664" y="1545336"/>
            <a:ext cx="1554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1.37M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55664" y="1929384"/>
            <a:ext cx="1554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Anganwadi centres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55664" y="2313432"/>
            <a:ext cx="1554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UNICEF India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366760" y="1417320"/>
            <a:ext cx="1828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13064" y="1545336"/>
            <a:ext cx="1554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13064" y="1929384"/>
            <a:ext cx="1554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pedagogy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13064" y="2313432"/>
            <a:ext cx="1554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NCF Foundational Stage 2022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424160" y="1417320"/>
            <a:ext cx="1508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70464" y="1545336"/>
            <a:ext cx="1234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3-6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0570464" y="1929384"/>
            <a:ext cx="12344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ages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70464" y="2313432"/>
            <a:ext cx="12344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brief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309360" y="3127248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base used in this deck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511296"/>
            <a:ext cx="5303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UNICEF India: Anganwadi platform and early childhood learning. NCF Foundational Stage: guided play and learning through play. NIPUN Bharat: foundational learning and educator support. Nurturing Care Framework: early learning as a core developmental input.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501091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09360" y="5010912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73952" y="5157216"/>
            <a:ext cx="5029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Need: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55664" y="5376672"/>
            <a:ext cx="513892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need is a low-cost, facilitator-friendly learning surface that supports movement, language, drawing, storytelling, and adaptive play.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UNDERSTANDING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users and context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F66"/>
                </a:solidFill>
              </a:rPr>
              <a:t>Problem + equity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993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4864" cy="1481328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17904"/>
            <a:ext cx="17190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Children 3-6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1810512"/>
            <a:ext cx="1719072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visual, tactile, forgiving, low-text play.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88920" y="1371600"/>
            <a:ext cx="1993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88920" y="1371600"/>
            <a:ext cx="54864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3512" y="1517904"/>
            <a:ext cx="17190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Anganwadi workers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53512" y="1810512"/>
            <a:ext cx="1719072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ready-to-use activities without complex setup.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1371600"/>
            <a:ext cx="1993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74920" y="1371600"/>
            <a:ext cx="54864" cy="1481328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9512" y="1517904"/>
            <a:ext cx="17190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ECCE educators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9512" y="1810512"/>
            <a:ext cx="1719072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consistent content and classroom visibility.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60920" y="1371600"/>
            <a:ext cx="1993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1371600"/>
            <a:ext cx="54864" cy="1481328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25512" y="1517904"/>
            <a:ext cx="17190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25512" y="1810512"/>
            <a:ext cx="1719072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plain-language progress and things to try at home.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46920" y="1371600"/>
            <a:ext cx="1993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46920" y="1371600"/>
            <a:ext cx="54864" cy="1481328"/>
          </a:xfrm>
          <a:prstGeom prst="rect">
            <a:avLst/>
          </a:prstGeom>
          <a:solidFill>
            <a:srgbClr val="D94662"/>
          </a:solidFill>
          <a:ln w="12700">
            <a:solidFill>
              <a:srgbClr val="D946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11512" y="1517904"/>
            <a:ext cx="17190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4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Vulnerable learners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11512" y="1810512"/>
            <a:ext cx="1719072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low-cost, local-language, portable continuity.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constraints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3685032"/>
            <a:ext cx="51663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Low-resource centres may have a TV/projector but not an interactive board.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032504"/>
            <a:ext cx="51663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Large-group teaching needs wall-scale interaction, not only individual tablets.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379976"/>
            <a:ext cx="51663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Frontline workers need practical facilitation support, not more dashboards.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727448"/>
            <a:ext cx="51663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and low-connectivity settings require local-first design.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5074920"/>
            <a:ext cx="51663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must be supportive and non-diagnostic.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127248"/>
            <a:ext cx="4983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rajivkhanna/Downloads/NeoTouch/pdf_extracted_images/page-02-imag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154680"/>
            <a:ext cx="4928616" cy="236829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263640" y="5687568"/>
            <a:ext cx="4937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context: Home World activity selection is already implemented as a calm, playable child entry point.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55778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CogniPlay Studio converts existing classroom displays into AI-assisted smart learning walls using only a webcam and software.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" y="2578608"/>
            <a:ext cx="13167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04088" y="2834640"/>
            <a:ext cx="1316736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 camera captures hand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2514600" y="246888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24328" y="2578608"/>
            <a:ext cx="13167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624328" y="2834640"/>
            <a:ext cx="1316736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 hand tracking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434840" y="246888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44568" y="2578608"/>
            <a:ext cx="13167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544568" y="2834640"/>
            <a:ext cx="1316736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projected surface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355080" y="246888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64808" y="2578608"/>
            <a:ext cx="13167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464808" y="2834640"/>
            <a:ext cx="1316736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Puzzles, drawing, whiteboard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275320" y="246888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85048" y="2578608"/>
            <a:ext cx="13167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385048" y="2834640"/>
            <a:ext cx="1316736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support + subtitles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0195560" y="246888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305288" y="2578608"/>
            <a:ext cx="13167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0305288" y="2834640"/>
            <a:ext cx="1316736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+ teacher views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130552" y="2926080"/>
            <a:ext cx="34747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50792" y="2926080"/>
            <a:ext cx="34747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71032" y="2926080"/>
            <a:ext cx="34747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891272" y="2926080"/>
            <a:ext cx="34747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811512" y="2926080"/>
            <a:ext cx="34747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" y="4251960"/>
            <a:ext cx="2834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4251960"/>
            <a:ext cx="54864" cy="1024128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8952" y="4398264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in code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" y="4690872"/>
            <a:ext cx="256032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 tracking, calibration, whiteboard, local AI assistant, puzzle loop, adaptive scoring, rewards, dashboards.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03320" y="4251960"/>
            <a:ext cx="2834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03320" y="4251960"/>
            <a:ext cx="54864" cy="1024128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67912" y="4398264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Semi-implemented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67912" y="4690872"/>
            <a:ext cx="256032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OS-wide bridge, live subtitles, recording/cloud workflow, parent/teacher analytics with prototype data.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4251960"/>
            <a:ext cx="2834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12280" y="4251960"/>
            <a:ext cx="54864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76872" y="4398264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76872" y="4690872"/>
            <a:ext cx="256032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database, real rosters, cloud sync, multilingual packs, AI recommendations, item calibration.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966960" y="43159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040112" y="438912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 prototype built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6812280" y="5285232"/>
            <a:ext cx="41148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\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user flows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4864" cy="749808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472184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setup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64792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tracking -&gt; calibrate wall -&gt; launch CogniPlay or whiteboard -&gt; run activity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258568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404872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play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697480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world -&gt; drag/trace/match/draw -&gt; get feedback -&gt; earn XP/badges -&gt; next adaptive puzzle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54864" cy="749808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337560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support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630168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AI on whiteboard -&gt; generate definition/flowchart -&gt; annotate -&gt; record/subtitle session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4270248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follow-up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4562856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score, strengths, growth areas, weekly activity, achievements, and home activities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5056632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54864" cy="749808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5202936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intervention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5495544"/>
            <a:ext cx="4800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heatmap -&gt; flag support needs -&gt; teacher-reviewed recommended actions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1261872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0" descr="/Users/rajivkhanna/Downloads/NeoTouch/pdf_extracted_images/page-04-imag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289304"/>
            <a:ext cx="2596896" cy="1453896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8942832" y="1261872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1" descr="/Users/rajivkhanna/Downloads/NeoTouch/pdf_extracted_images/page-09-image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1289304"/>
            <a:ext cx="2596896" cy="145389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035040" y="321868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/Users/rajivkhanna/Downloads/NeoTouch/pdf_extracted_images/page-18-imag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3246120"/>
            <a:ext cx="2596896" cy="1453896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8942832" y="321868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/Users/rajivkhanna/Downloads/NeoTouch/pdf_extracted_images/page-21-image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0264" y="3246120"/>
            <a:ext cx="2596896" cy="1453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035040" y="5084064"/>
            <a:ext cx="53949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screenshots: drag/drop puzzle, AI whiteboard, parent dashboard, and teacher intervention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APPROACH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AI is necessary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5577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AI or intelligent adaptation, the product collapses into a projected worksheet or a normal whiteboard.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support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2267712"/>
            <a:ext cx="35204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Frontline workers still need to manually create explanations, diagrams, and local examples.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989320" y="2267712"/>
            <a:ext cx="5120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generates flowcharts, definitions, and Ask AI responses at the whiteboard.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3054096"/>
            <a:ext cx="35204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Children with hearing barriers or absent children lose continuity.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989320" y="3054096"/>
            <a:ext cx="5120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 subtitles and caption burn-in support access and review.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3840480"/>
            <a:ext cx="35204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One-size puzzles bore advanced learners and frustrate struggling learners.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989320" y="3840480"/>
            <a:ext cx="5120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IRT adapts difficulty from attempt history; future AI can generate validated puzzle variants.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4626864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support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4626864"/>
            <a:ext cx="35204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Teachers see scores too late or not at all.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989320" y="4626864"/>
            <a:ext cx="5120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AI insights can summarize patterns and suggest teacher-reviewed interventions.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789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54864" cy="530352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5678424"/>
            <a:ext cx="10515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truth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5897880"/>
            <a:ext cx="1051560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>
            <a:lvl1pPr algn="l"/>
          </a:lstStyle>
          <a:p>
            <a:pPr marL="0" indent="0" algn="l">
              <a:buNone/>
            </a:pPr>
            <a:r>
              <a:rPr lang="en-US" sz="10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intelligent layer is an LLM: hand tracking is computer vision, shape assist is geometry/rules, adaptation is statistical IRT, and content support uses local LLMs.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TECHNICAL FEASIBILITY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methodology: model choice, data, evaluation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57984" y="1261872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68496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1261872"/>
            <a:ext cx="3017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plan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509760" y="1261872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" y="1554480"/>
            <a:ext cx="1110996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3D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627632"/>
            <a:ext cx="1554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157984" y="1627632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 Hands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968496" y="1627632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 frames; 21 hand landmarks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327648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Accuracy, latency, false pinch rate, classroom lighting robustness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9509760" y="1627632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38912" y="2304288"/>
            <a:ext cx="11109960" cy="621792"/>
          </a:xfrm>
          <a:prstGeom prst="roundRect">
            <a:avLst>
              <a:gd name="adj" fmla="val 4412"/>
            </a:avLst>
          </a:prstGeom>
          <a:solidFill>
            <a:srgbClr val="F7FBF8"/>
          </a:solidFill>
          <a:ln w="12700">
            <a:solidFill>
              <a:srgbClr val="D9E3D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Whiteboard AI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157984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llama3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968496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prompt text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327648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appropriateness, factuality, useful diagrams, local-language quality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9509760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built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38912" y="3054096"/>
            <a:ext cx="1110996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3D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3127248"/>
            <a:ext cx="1554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Subtitles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157984" y="3127248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 / whisper.cpp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968496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chunks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327648" y="3127248"/>
            <a:ext cx="3017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error rate by language, delay, device performance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9509760" y="3127248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Semi-built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38912" y="3803904"/>
            <a:ext cx="11109960" cy="621792"/>
          </a:xfrm>
          <a:prstGeom prst="roundRect">
            <a:avLst>
              <a:gd name="adj" fmla="val 4412"/>
            </a:avLst>
          </a:prstGeom>
          <a:solidFill>
            <a:srgbClr val="F7FBF8"/>
          </a:solidFill>
          <a:ln w="12700">
            <a:solidFill>
              <a:srgbClr val="D9E3D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" y="3877056"/>
            <a:ext cx="1554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learning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2157984" y="3877056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3PL IRT + procedural templates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968496" y="3877056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Attempt correctness, time, hints, retries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327648" y="3877056"/>
            <a:ext cx="3017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Engagement, difficulty fit, item calibration after pilots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9509760" y="3877056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38912" y="4553712"/>
            <a:ext cx="1110996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3D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" y="4626864"/>
            <a:ext cx="1554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2157984" y="4626864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local/cloud LLM with guardrails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3968496" y="4626864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Aggregated profile and class patterns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6327648" y="4626864"/>
            <a:ext cx="3017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Explainability, teacher acceptance, non-diagnostic safety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9509760" y="4626864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02920" y="5705856"/>
            <a:ext cx="10607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data posture: local browser state for prototype profiles; real learner data, consent, retention rules, and secure backend are Phase 2.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DIAGRAM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344168"/>
            <a:ext cx="12435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749808" y="1600200"/>
            <a:ext cx="124358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/ teacher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61488" y="1344168"/>
            <a:ext cx="142646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761488" y="1600200"/>
            <a:ext cx="142646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Projector / TV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1344168"/>
            <a:ext cx="142646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shell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864608" y="1600200"/>
            <a:ext cx="142646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HTML/CSS/JS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858000" y="123444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67728" y="1344168"/>
            <a:ext cx="142646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app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967728" y="1600200"/>
            <a:ext cx="142646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CogniPlay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9144000" y="123444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53728" y="1344168"/>
            <a:ext cx="142646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9253728" y="1600200"/>
            <a:ext cx="142646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/ teacher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121408" y="1627632"/>
            <a:ext cx="48463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15968" y="1627632"/>
            <a:ext cx="39319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01968" y="1627632"/>
            <a:ext cx="21031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49640" y="1627632"/>
            <a:ext cx="548640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17320" y="278892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27048" y="2898648"/>
            <a:ext cx="13807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527048" y="3154680"/>
            <a:ext cx="1380744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 camera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361188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21608" y="2898648"/>
            <a:ext cx="156362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layer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721608" y="3154680"/>
            <a:ext cx="1563624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 + filters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80644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16168" y="2898648"/>
            <a:ext cx="156362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Gesture layer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916168" y="3154680"/>
            <a:ext cx="1563624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 / click / drag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00100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110728" y="2898648"/>
            <a:ext cx="156362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bridge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110728" y="3154680"/>
            <a:ext cx="1563624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CoreGraphics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035808" y="3200400"/>
            <a:ext cx="53035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13248" y="3200400"/>
            <a:ext cx="34747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07808" y="3200400"/>
            <a:ext cx="347472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97280" y="4645152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207008" y="4754880"/>
            <a:ext cx="13807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1207008" y="5010912"/>
            <a:ext cx="13807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llama3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200400" y="4645152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10128" y="4754880"/>
            <a:ext cx="13807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AI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3310128" y="5010912"/>
            <a:ext cx="13807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 local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303520" y="4645152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13248" y="4754880"/>
            <a:ext cx="13807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5413248" y="5010912"/>
            <a:ext cx="13807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IRT + EMA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7406640" y="4645152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516368" y="4754880"/>
            <a:ext cx="13807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7516368" y="5010912"/>
            <a:ext cx="13807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now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9509760" y="4645152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D946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619488" y="4754880"/>
            <a:ext cx="13807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D94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9619488" y="5010912"/>
            <a:ext cx="13807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+ DB + sync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2724912" y="5038344"/>
            <a:ext cx="429768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828032" y="5038344"/>
            <a:ext cx="429768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931152" y="5038344"/>
            <a:ext cx="429768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034272" y="5038344"/>
            <a:ext cx="429768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0080" y="6016752"/>
            <a:ext cx="10698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evidence: app.js, hand-tracker.js, server.js, ai-engine.js, CogniPlay/cogniplay/src/engine, parent/teacher dashboard pages.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QUALITY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Clickable prototype and real product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Users/rajivkhanna/Downloads/NeoTouch/pdf_extracted_images/page-01-imag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89304"/>
            <a:ext cx="3511296" cy="18653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70832" y="1261872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Users/rajivkhanna/Downloads/NeoTouch/pdf_extracted_images/page-08-image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1289304"/>
            <a:ext cx="3511296" cy="18653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93024" y="1261872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/Users/rajivkhanna/Downloads/NeoTouch/pdf_extracted_images/page-18-imag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1289304"/>
            <a:ext cx="2688336" cy="18653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3730752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/Users/rajivkhanna/Downloads/NeoTouch/pdf_extracted_images/page-21-image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758184"/>
            <a:ext cx="3511296" cy="186537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370832" y="3730752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4370832" y="3730752"/>
            <a:ext cx="54864" cy="91440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4535424" y="3877056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 prototype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35424" y="4169664"/>
            <a:ext cx="3291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prototype maps all 10 features, hardware, AI used, implementation status, and code evidence.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8193024" y="3730752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8193024" y="3730752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357616" y="3877056"/>
            <a:ext cx="2468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URL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357616" y="4169664"/>
            <a:ext cx="2468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clickable-prototype/index.html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server path supported.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70832" y="4983480"/>
            <a:ext cx="649224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r>
              <a:rPr lang="en-US" sz="12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bar: the prototype is not only slides; it is a clickable feature map that judges can navigate by user journey or by feature. The current prototype can be used yourself (fully working) by going to </a:t>
            </a:r>
            <a:r>
              <a:rPr lang="en-US" sz="12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/>
              </a:rPr>
              <a:t>https://github.com/Mr-Blahaj/NeoTouch</a:t>
            </a:r>
            <a:r>
              <a:rPr lang="en-US" sz="12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 contacting Arnav Khanna (+91 8368141018, arnav1758@outlook.com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398264" y="5897880"/>
            <a:ext cx="6492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shown: CV active shell, whiteboard/AI tools, parent dashboard, teacher mode and intervention UI.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OFFLINE, LOW CONNECTIVITY, DEVICES, LANGUAGES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readiness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166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54864" cy="987552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426464"/>
            <a:ext cx="4892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1719072"/>
            <a:ext cx="4892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app, whiteboard, procedural puzzles, local profiles, and Ollama/Whisper options can run locally.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166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4864" cy="987552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1426464"/>
            <a:ext cx="4892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connectivity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82512" y="1719072"/>
            <a:ext cx="4892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learning loop should not depend on cloud. Cloud sync becomes optional when available.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606040"/>
            <a:ext cx="5166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2606040"/>
            <a:ext cx="54864" cy="987552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" y="2752344"/>
            <a:ext cx="4892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Entry-level devices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" y="3044952"/>
            <a:ext cx="4892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testing on low-end laptops; use small Whisper models, model selection, and fallback modes.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5166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2606040"/>
            <a:ext cx="54864" cy="987552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2512" y="2752344"/>
            <a:ext cx="4892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languages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82512" y="3044952"/>
            <a:ext cx="4892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Roadmap: Hindi/regional prompts, subtitle models, local examples, parent reports, and content packs.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931920"/>
            <a:ext cx="5166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3931920"/>
            <a:ext cx="54864" cy="987552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8952" y="4078224"/>
            <a:ext cx="4892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" y="4370832"/>
            <a:ext cx="4892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USB webcam, extension cable, and existing display/projector/TV. No dedicated smartboard required.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0"/>
            <a:ext cx="4800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0" descr="/Users/rajivkhanna/Downloads/NeoTouch/pdf_extracted_images/page-10-imag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4599432"/>
            <a:ext cx="4745736" cy="106070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4360" y="5687568"/>
            <a:ext cx="10332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caveat: live subtitles depend on Whisper/whisper.cpp installation; cloud upload, auth, database, and real rosters are Phase 2.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Equity, inclusion, Responsible AI and language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298448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54864" cy="123444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444752"/>
            <a:ext cx="2468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1737360"/>
            <a:ext cx="246888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subtitles, recording review, large shared display, low-text child UI, and future local-language content.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1298448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1880" y="1298448"/>
            <a:ext cx="54864" cy="1234440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76472" y="1444752"/>
            <a:ext cx="2468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76472" y="1737360"/>
            <a:ext cx="246888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stores learner profile locally. Phase 2 needs consent, retention, deletion, encryption, and role-based access.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1298448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29400" y="1298448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3992" y="1444752"/>
            <a:ext cx="2468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93992" y="1737360"/>
            <a:ext cx="246888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Interventions must be teacher-reviewed and non-diagnostic. AI supports educators; it does not label children.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46920" y="1298448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46920" y="1298448"/>
            <a:ext cx="54864" cy="1234440"/>
          </a:xfrm>
          <a:prstGeom prst="rect">
            <a:avLst/>
          </a:prstGeom>
          <a:solidFill>
            <a:srgbClr val="D94662"/>
          </a:solidFill>
          <a:ln w="12700">
            <a:solidFill>
              <a:srgbClr val="D946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11512" y="1444752"/>
            <a:ext cx="1783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4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11512" y="1737360"/>
            <a:ext cx="178308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language prompts, captions, reports, and content packs are required for scale.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to implement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657600"/>
            <a:ext cx="4983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Child-safe prompt templates and blocked content categories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657600"/>
            <a:ext cx="4983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medical diagnosis or fixed ability labels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4160520"/>
            <a:ext cx="4983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Teacher-facing explanations for recommendations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4160520"/>
            <a:ext cx="4983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 recording and explicit caregiver/school consent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4663440"/>
            <a:ext cx="4983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mode with secure cloud sync only when configured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4663440"/>
            <a:ext cx="4983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review across languages, disability, gender, and socio-economic context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589788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 message for judges: CogniPlay uses AI for accessibility, teacher support, and pattern recognition. Decisions remain with adults.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+ SCALE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and scale potential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hypothesis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82496"/>
            <a:ext cx="566928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teachers can run engaging play activities with existing classroom hardware, more children can access quality early learning and more adults can see what support each child needs.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48463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234440"/>
            <a:ext cx="54864" cy="694944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56832" y="1380744"/>
            <a:ext cx="45720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quality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56832" y="1673352"/>
            <a:ext cx="4572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daily play-based activities: shapes, patterns, memory, counting, tracing, drawing.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2167128"/>
            <a:ext cx="48463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92240" y="2167128"/>
            <a:ext cx="54864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56832" y="2313432"/>
            <a:ext cx="45720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support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56832" y="2606040"/>
            <a:ext cx="4572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On-the-spot explanations, flowcharts, subtitles, recording, and dashboard cues.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3099816"/>
            <a:ext cx="48463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92240" y="3099816"/>
            <a:ext cx="54864" cy="694944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6832" y="3246120"/>
            <a:ext cx="45720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continuity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56832" y="3538728"/>
            <a:ext cx="4572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strengths, growth areas, weekly activity, achievements, and home ideas.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4032504"/>
            <a:ext cx="48463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92240" y="4032504"/>
            <a:ext cx="54864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56832" y="4178808"/>
            <a:ext cx="45720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56832" y="4471416"/>
            <a:ext cx="4572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Software-first model can reuse existing screens and a low-cost webcam.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4965192"/>
            <a:ext cx="48463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965192"/>
            <a:ext cx="54864" cy="694944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56832" y="5111496"/>
            <a:ext cx="45720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56832" y="5404104"/>
            <a:ext cx="4572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mode supports low-connectivity centres and mobile/vulnerable communities.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30175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3730752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Originality: wall-scale + AI + adaptive ECCE play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548640" y="409651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" y="4169664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tablet app. Not a hardware board.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548640" y="4535424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" y="4608576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Local-first, teacher-in-loop design</a:t>
            </a: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MILESTONES, DEPENDENCIES, RISKS, SCOPE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plan: Phase 2 milestones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353312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54864" cy="187452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499616"/>
            <a:ext cx="2240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0-1 week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1792224"/>
            <a:ext cx="2240280" cy="1344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hardening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Gesture tuning, calibration wizard, Whisper setup check, content QA, clickable prototype polish.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36392" y="2286000"/>
            <a:ext cx="246888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47288" y="1353312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47288" y="1353312"/>
            <a:ext cx="54864" cy="187452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1499616"/>
            <a:ext cx="2240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– 2  week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792224"/>
            <a:ext cx="2240280" cy="1344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data layer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consent, role permissions, real learner and classroom rosters, along with better AI and language, teacher review, and reports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2286000"/>
            <a:ext cx="246888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0216" y="1353312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0216" y="1353312"/>
            <a:ext cx="54864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74856" y="1499616"/>
            <a:ext cx="2240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2- 6 week (beyond hackathon phase 2)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64808" y="1792224"/>
            <a:ext cx="2240280" cy="1344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 AI and language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AI puzzle generation, teacher-reviewed insights, Hindi and more regional prompt packs, parent report localization.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42248" y="2286000"/>
            <a:ext cx="246888" cy="0"/>
          </a:xfrm>
          <a:prstGeom prst="line">
            <a:avLst/>
          </a:prstGeom>
          <a:noFill/>
          <a:ln w="16510">
            <a:solidFill>
              <a:srgbClr val="0B8F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53144" y="1353312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53144" y="1353312"/>
            <a:ext cx="54864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17736" y="1499616"/>
            <a:ext cx="2240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12-16 weeks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17736" y="1792224"/>
            <a:ext cx="2240280" cy="1344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deployment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sites, device testing, educator training, efficacy and engagement metrics.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279392"/>
            <a:ext cx="3200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Webcam/display access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3200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model/device capacity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822960" y="4864608"/>
            <a:ext cx="3200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consent and child data policy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822960" y="5157216"/>
            <a:ext cx="3200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Educator co-design partners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822960" y="5449824"/>
            <a:ext cx="3200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language review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493776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scope control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4279392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claim diagnostic screening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5166360" y="4572000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AI puzzle generation behind validation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5166360" y="4864608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upload after consent/auth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5166360" y="5157216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dashboard real data after backend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5166360" y="5449824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/>
            <a:r>
              <a:rPr lang="en-US" sz="94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before impact claims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9052560" y="3913632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052560" y="3913632"/>
            <a:ext cx="54864" cy="1600200"/>
          </a:xfrm>
          <a:prstGeom prst="rect">
            <a:avLst/>
          </a:prstGeom>
          <a:solidFill>
            <a:srgbClr val="D28A00"/>
          </a:solidFill>
          <a:ln w="12700">
            <a:solidFill>
              <a:srgbClr val="D2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217152" y="4059936"/>
            <a:ext cx="21031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success metric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17152" y="4352544"/>
            <a:ext cx="2103120" cy="1069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teacher can run a 20-minute play session, capture subtitles/recording, and review child/class insights with consented real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composition and skills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F66"/>
                </a:solidFill>
              </a:rPr>
              <a:t>Implementation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298448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54864" cy="114300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444752"/>
            <a:ext cx="3063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Arnav Khanna - Full-stack / product engineer &amp; AI / ML engineer.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1737360"/>
            <a:ext cx="3063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React, TypeScript, Vite, Node server, routing, clickable prototype, dashboards, </a:t>
            </a:r>
            <a:r>
              <a:rPr lang="en-US" sz="950" dirty="0" err="1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</a:t>
            </a: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Whisper, IRT, cognitive scoring, schema validation, evaluation, Responsible AI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298448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3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43400" y="1298448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7992" y="1444752"/>
            <a:ext cx="3063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Arnav Mishra - Computer vision engineer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737360"/>
            <a:ext cx="3063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 Hands, homography, calibration, filtering, gesture reliability, OS bridge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5029200"/>
            <a:ext cx="1069848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codebase already demonstrates the engineering spine: CV host, local server, React puzzle app, adaptive engine, AI assistant, subtitles route, recording UI, and analytics screens.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5623560"/>
            <a:ext cx="10332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D6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for Phase 2: early childhood domain review, language reviewers, school data/privacy advisor, and pilot implementation support.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7349A-2A6C-20C7-E336-707B88CF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99B9DE-06DE-FE0D-EAE3-19C99DEB4232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47AE0B-53DA-FB98-5AB2-3BDA7F634798}"/>
              </a:ext>
            </a:extLst>
          </p:cNvPr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874088-964E-52EF-D401-98798E994A1F}"/>
              </a:ext>
            </a:extLst>
          </p:cNvPr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Walk through of Features: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0C1A2E-CC7F-155E-1337-FB889FFF0189}"/>
              </a:ext>
            </a:extLst>
          </p:cNvPr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3F7AE4-DB85-ECCE-92A9-43A62C7E29C3}"/>
              </a:ext>
            </a:extLst>
          </p:cNvPr>
          <p:cNvSpPr txBox="1"/>
          <p:nvPr/>
        </p:nvSpPr>
        <p:spPr>
          <a:xfrm>
            <a:off x="575687" y="1843950"/>
            <a:ext cx="1104062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1. Turns any projector, TV, or display into a functional smart board using only a USB webcam and extension cable. Hand tracking enables writing, drawing, highlighting, dragging, and touch-like interaction on the wall. Implemented, needs refinement.</a:t>
            </a:r>
          </a:p>
          <a:p>
            <a:endParaRPr lang="en-US" sz="1200" dirty="0"/>
          </a:p>
          <a:p>
            <a:r>
              <a:rPr lang="en-US" sz="1200" dirty="0"/>
              <a:t>2. Gesture-based classroom controls for brush, eraser, laser pointer, undo, redo, clear, drag/drop, and trace interactions. Implemented.</a:t>
            </a:r>
          </a:p>
          <a:p>
            <a:endParaRPr lang="en-US" sz="1200" dirty="0"/>
          </a:p>
          <a:p>
            <a:r>
              <a:rPr lang="en-US" sz="1200" dirty="0"/>
              <a:t>3. AI / shape assist on the whiteboard to auto-straighten lines and improve rough shapes such as circles, rectangles, triangles, and arrows. Implemented as offline shape recognition/beautification.</a:t>
            </a:r>
          </a:p>
          <a:p>
            <a:endParaRPr lang="en-US" sz="1200" dirty="0"/>
          </a:p>
          <a:p>
            <a:r>
              <a:rPr lang="en-US" sz="1200" dirty="0"/>
              <a:t>4. OS-wide interaction layer through a macOS cursor bridge, allowing the hand-tracked wall to move/click/scroll outside the main web app. Semi-implemented.</a:t>
            </a:r>
          </a:p>
          <a:p>
            <a:endParaRPr lang="en-US" sz="1200" dirty="0"/>
          </a:p>
          <a:p>
            <a:r>
              <a:rPr lang="en-US" sz="1200" dirty="0"/>
              <a:t>5. AI whiteboard assistant using local </a:t>
            </a:r>
            <a:r>
              <a:rPr lang="en-US" sz="1200" dirty="0" err="1"/>
              <a:t>Ollama</a:t>
            </a:r>
            <a:r>
              <a:rPr lang="en-US" sz="1200" dirty="0"/>
              <a:t> llama3 to generate flowcharts, definitions, explanations, answers, tables, and word charts on the spot. Mostly implemented.</a:t>
            </a:r>
          </a:p>
          <a:p>
            <a:endParaRPr lang="en-US" sz="1200" dirty="0"/>
          </a:p>
          <a:p>
            <a:r>
              <a:rPr lang="en-US" sz="1200" dirty="0"/>
              <a:t>6. Live lecture subtitles for inclusion using local Whisper / </a:t>
            </a:r>
            <a:r>
              <a:rPr lang="en-US" sz="1200" dirty="0" err="1"/>
              <a:t>whisper.cpp</a:t>
            </a:r>
            <a:r>
              <a:rPr lang="en-US" sz="1200" dirty="0"/>
              <a:t> transcription. Semi-implemented; depends on local model setup.</a:t>
            </a:r>
          </a:p>
          <a:p>
            <a:endParaRPr lang="en-US" sz="1200" dirty="0"/>
          </a:p>
          <a:p>
            <a:r>
              <a:rPr lang="en-US" sz="1200" dirty="0"/>
              <a:t>7. Auto session recording with screen capture, teacher camera picture-in-picture, and subtitle burn-in. Implemented locally.</a:t>
            </a:r>
          </a:p>
          <a:p>
            <a:endParaRPr lang="en-US" sz="1200" dirty="0"/>
          </a:p>
          <a:p>
            <a:r>
              <a:rPr lang="en-US" sz="1200" dirty="0"/>
              <a:t>8. Cloud upload for recorded lectures and classroom sessions. Planned / partially scaffolded; needs full integration with school cloud storage.</a:t>
            </a:r>
          </a:p>
          <a:p>
            <a:endParaRPr lang="en-US" sz="1200" dirty="0"/>
          </a:p>
          <a:p>
            <a:r>
              <a:rPr lang="en-US" sz="1200" dirty="0"/>
              <a:t>9. Play-based early learning games for ages 3-6, including patterns, shapes, sorting, counting, memory, matching, tracing, pathfinding, and drawing. Implemented, needs more puzzles/categories.</a:t>
            </a:r>
          </a:p>
          <a:p>
            <a:endParaRPr lang="en-US" sz="1200" dirty="0"/>
          </a:p>
          <a:p>
            <a:r>
              <a:rPr lang="en-US" sz="1200" dirty="0"/>
              <a:t>10. Interactive drag-and-drop and trace-based puzzle interactions designed to build cognitive, logical, spatial, memory, attention, and reasoning skills. Implemented.</a:t>
            </a:r>
          </a:p>
        </p:txBody>
      </p:sp>
    </p:spTree>
    <p:extLst>
      <p:ext uri="{BB962C8B-B14F-4D97-AF65-F5344CB8AC3E}">
        <p14:creationId xmlns:p14="http://schemas.microsoft.com/office/powerpoint/2010/main" val="3663561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94475-D8AF-3F63-D81F-F8BC2E63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CAC516-39AD-6EE5-C221-01A7FC76BB3D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349D37-F1E9-54AB-D744-399AFED5B032}"/>
              </a:ext>
            </a:extLst>
          </p:cNvPr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C693A6-5A33-E065-DEA2-FFEFEA8443D2}"/>
              </a:ext>
            </a:extLst>
          </p:cNvPr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Walk through of Features: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FDD704-8634-0426-4AD1-4A0E2A20C789}"/>
              </a:ext>
            </a:extLst>
          </p:cNvPr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2F62D-2D13-555B-0A3F-F7887508878F}"/>
              </a:ext>
            </a:extLst>
          </p:cNvPr>
          <p:cNvSpPr txBox="1"/>
          <p:nvPr/>
        </p:nvSpPr>
        <p:spPr>
          <a:xfrm>
            <a:off x="770759" y="1502306"/>
            <a:ext cx="110406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11. Adaptive difficulty using IRT-style scoring based on correctness, time taken, hints used, and retry behavior. Implemented.</a:t>
            </a:r>
          </a:p>
          <a:p>
            <a:endParaRPr lang="en-US" sz="1200" dirty="0"/>
          </a:p>
          <a:p>
            <a:r>
              <a:rPr lang="en-US" sz="1200" dirty="0"/>
              <a:t>12. Local AI hints for puzzles using </a:t>
            </a:r>
            <a:r>
              <a:rPr lang="en-US" sz="1200" dirty="0" err="1"/>
              <a:t>Ollama</a:t>
            </a:r>
            <a:r>
              <a:rPr lang="en-US" sz="1200" dirty="0"/>
              <a:t>, with fallback hint text when AI is unavailable. Mostly implemented.</a:t>
            </a:r>
          </a:p>
          <a:p>
            <a:endParaRPr lang="en-US" sz="1200" dirty="0"/>
          </a:p>
          <a:p>
            <a:r>
              <a:rPr lang="en-US" sz="1200" dirty="0"/>
              <a:t>13. Learning DNA profile that tracks child progress across cognitive dimensions such as attention, working memory, spatial reasoning, pattern recognition, logical reasoning, persistence, and learning speed. Implemented as prototype.</a:t>
            </a:r>
          </a:p>
          <a:p>
            <a:endParaRPr lang="en-US" sz="1200" dirty="0"/>
          </a:p>
          <a:p>
            <a:r>
              <a:rPr lang="en-US" sz="1200" dirty="0"/>
              <a:t>14. Points, XP, stars, badges, achievements, and unlockable worlds to motivate children and support repeated play. Implemented.</a:t>
            </a:r>
          </a:p>
          <a:p>
            <a:endParaRPr lang="en-US" sz="1200" dirty="0"/>
          </a:p>
          <a:p>
            <a:r>
              <a:rPr lang="en-US" sz="1200" dirty="0"/>
              <a:t>15. Sticker shop, mentor characters, customization rewards, and in-person reward tie-ins. Not yet implemented; planned future feature.</a:t>
            </a:r>
          </a:p>
          <a:p>
            <a:endParaRPr lang="en-US" sz="1200" dirty="0"/>
          </a:p>
          <a:p>
            <a:r>
              <a:rPr lang="en-US" sz="1200" dirty="0"/>
              <a:t>16. Parent portal showing child score, strengths, growth areas, weekly activity, achievements, and suggested activities to try at home. Semi-implemented.</a:t>
            </a:r>
          </a:p>
          <a:p>
            <a:endParaRPr lang="en-US" sz="1200" dirty="0"/>
          </a:p>
          <a:p>
            <a:r>
              <a:rPr lang="en-US" sz="1200" dirty="0"/>
              <a:t>17. Teacher dashboard showing individual child statistics, Learning DNA, dimension breakdowns, progress, strengths, and areas needing support. Semi-implemented.</a:t>
            </a:r>
          </a:p>
          <a:p>
            <a:endParaRPr lang="en-US" sz="1200" dirty="0"/>
          </a:p>
          <a:p>
            <a:r>
              <a:rPr lang="en-US" sz="1200" dirty="0"/>
              <a:t>18. Teacher class mode showing whole-class statistics, score distribution, cognitive heatmap, students needing attention, and recommended actions. Semi-implemented with mock/demo data.</a:t>
            </a:r>
          </a:p>
          <a:p>
            <a:endParaRPr lang="en-US" sz="1200" dirty="0"/>
          </a:p>
          <a:p>
            <a:r>
              <a:rPr lang="en-US" sz="1200" dirty="0"/>
              <a:t>19. AI-assisted student insights and intervention recommendations for early support and teacher decision-making. Planned / semi-implemented; needs real data and responsible AI guardrails.</a:t>
            </a:r>
          </a:p>
          <a:p>
            <a:endParaRPr lang="en-US" sz="1200" dirty="0"/>
          </a:p>
          <a:p>
            <a:r>
              <a:rPr lang="en-US" sz="1200" dirty="0"/>
              <a:t>20. Local-first architecture so the core prototype can run without cloud dependency, supporting low-connectivity and low-resource classrooms. Implemented at prototype level.</a:t>
            </a:r>
          </a:p>
        </p:txBody>
      </p:sp>
    </p:spTree>
    <p:extLst>
      <p:ext uri="{BB962C8B-B14F-4D97-AF65-F5344CB8AC3E}">
        <p14:creationId xmlns:p14="http://schemas.microsoft.com/office/powerpoint/2010/main" val="3658441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D8B2A-6F85-454D-C3C5-29A0F70C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49250-8AEF-568C-ECBF-CB4CE836CDE8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A5E2DF-2178-7FAC-C80E-9BDE39B61489}"/>
              </a:ext>
            </a:extLst>
          </p:cNvPr>
          <p:cNvSpPr/>
          <p:nvPr/>
        </p:nvSpPr>
        <p:spPr>
          <a:xfrm>
            <a:off x="438912" y="292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443317-0145-C856-DE83-FC5366DA091B}"/>
              </a:ext>
            </a:extLst>
          </p:cNvPr>
          <p:cNvSpPr/>
          <p:nvPr/>
        </p:nvSpPr>
        <p:spPr>
          <a:xfrm>
            <a:off x="438912" y="56692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0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 to judges: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033418-0F26-9F52-DE52-C5E90DC588C3}"/>
              </a:ext>
            </a:extLst>
          </p:cNvPr>
          <p:cNvSpPr/>
          <p:nvPr/>
        </p:nvSpPr>
        <p:spPr>
          <a:xfrm>
            <a:off x="438912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F66"/>
                </a:solidFill>
              </a:rPr>
              <a:t>CogniPlay Studio | Early Childhood 3-6</a:t>
            </a:r>
            <a:endParaRPr lang="en-US" sz="7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06DC14-F65B-2550-86CE-A2B4812F1365}"/>
              </a:ext>
            </a:extLst>
          </p:cNvPr>
          <p:cNvSpPr txBox="1"/>
          <p:nvPr/>
        </p:nvSpPr>
        <p:spPr>
          <a:xfrm>
            <a:off x="514066" y="2090172"/>
            <a:ext cx="111638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We have worked hard to create the entire platform with the hand tracking as proof of concept.</a:t>
            </a:r>
            <a:r>
              <a:rPr lang="en-US" sz="24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current prototype can be used yourself (fully working) by going to </a:t>
            </a:r>
            <a:r>
              <a:rPr lang="en-US" sz="24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/>
              </a:rPr>
              <a:t>https://github.com/Mr-Blahaj/NeoTouch</a:t>
            </a:r>
            <a:r>
              <a:rPr lang="en-US" sz="2400" b="1" dirty="0">
                <a:solidFill>
                  <a:srgbClr val="142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 contacting Arnav Khanna (+91 8368141018, arnav1758@outlook.com . </a:t>
            </a:r>
            <a:r>
              <a:rPr lang="en-US" sz="2400" dirty="0"/>
              <a:t>You will be able to see it through the video walkthrough and we would love to demonstrate it to you!</a:t>
            </a:r>
          </a:p>
          <a:p>
            <a:endParaRPr lang="en-US" sz="2400" dirty="0"/>
          </a:p>
          <a:p>
            <a:r>
              <a:rPr lang="en-US" sz="2400" dirty="0"/>
              <a:t>We hope to see you in the next round!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With love, Team </a:t>
            </a:r>
            <a:r>
              <a:rPr lang="en-US" sz="2400" dirty="0" err="1"/>
              <a:t>CogniPlay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59875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2805</Words>
  <Application>Microsoft Macintosh PowerPoint</Application>
  <PresentationFormat>Widescreen</PresentationFormat>
  <Paragraphs>349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CogniPlay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CogniPlay Studio - AI Smart Learning Wall</dc:title>
  <dc:subject>Rubric-aligned project presentation</dc:subject>
  <dc:creator>CogniPlay Studio</dc:creator>
  <cp:lastModifiedBy>Arnav Khanna (ak32g25)</cp:lastModifiedBy>
  <cp:revision>3</cp:revision>
  <dcterms:created xsi:type="dcterms:W3CDTF">2026-06-03T17:58:55Z</dcterms:created>
  <dcterms:modified xsi:type="dcterms:W3CDTF">2026-06-03T18:28:47Z</dcterms:modified>
</cp:coreProperties>
</file>